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9CB025F-2806-D82D-AF3D-E6B48ECD423E}">
          <p14:sldIdLst>
            <p14:sldId id="256"/>
            <p14:sldId id="257"/>
          </p14:sldIdLst>
        </p14:section>
        <p14:section name="Project and data model" id="{530BAD5A-C6E7-54C0-3B4C-8A77E39B92FF}">
          <p14:sldIdLst>
            <p14:sldId id="258"/>
            <p14:sldId id="259"/>
          </p14:sldIdLst>
        </p14:section>
        <p14:section name="Executive dashboard" id="{A3090C30-C881-69B7-4C55-C4D56D9B1029}">
          <p14:sldIdLst>
            <p14:sldId id="260"/>
          </p14:sldIdLst>
        </p14:section>
        <p14:section name="Query walkthrough" id="{449B514B-EC47-9247-3C5A-CD1D8B649540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Insights and next steps" id="{831CC637-85A5-42CA-471D-2DDBD17B8CF4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F3E"/>
                </a:solidFill>
                <a:latin typeface="+mn-lt"/>
              </a:defRPr>
            </a:pPr>
            <a:r>
              <a:rPr lang="en-IN" sz="1200" b="0" i="0" u="none" strike="noStrike">
                <a:solidFill>
                  <a:srgbClr val="232F3E"/>
                </a:solidFill>
                <a:latin typeface="+mn-lt"/>
              </a:rPr>
              <a:t>Top 5 products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products ($K)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445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iMac Pro</c:v>
                </c:pt>
                <c:pt idx="1">
                  <c:v>iMac 27 Retina</c:v>
                </c:pt>
                <c:pt idx="2">
                  <c:v>Canon EOS R5</c:v>
                </c:pt>
                <c:pt idx="3">
                  <c:v>iMac 24-Inch</c:v>
                </c:pt>
                <c:pt idx="4">
                  <c:v>MBP 16-inch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630</c:v>
                </c:pt>
                <c:pt idx="1">
                  <c:v>232.2</c:v>
                </c:pt>
                <c:pt idx="2">
                  <c:v>222.3</c:v>
                </c:pt>
                <c:pt idx="3">
                  <c:v>189.8</c:v>
                </c:pt>
                <c:pt idx="4">
                  <c:v>187.5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96-42B2-9689-455FF04911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4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F3E"/>
                </a:solidFill>
                <a:latin typeface="+mn-lt"/>
              </a:defRPr>
            </a:pPr>
            <a:r>
              <a:rPr lang="en-IN" sz="1200" b="0" i="0" u="none" strike="noStrike">
                <a:solidFill>
                  <a:srgbClr val="232F3E"/>
                </a:solidFill>
                <a:latin typeface="+mn-lt"/>
              </a:rPr>
              <a:t>Revenue by category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F60-417B-9538-B865AA8C6834}"/>
              </c:ext>
            </c:extLst>
          </c:dPt>
          <c:dPt>
            <c:idx val="1"/>
            <c:bubble3D val="0"/>
            <c:spPr>
              <a:solidFill>
                <a:srgbClr val="1F6FB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FF60-417B-9538-B865AA8C6834}"/>
              </c:ext>
            </c:extLst>
          </c:dPt>
          <c:dPt>
            <c:idx val="2"/>
            <c:bubble3D val="0"/>
            <c:spPr>
              <a:solidFill>
                <a:srgbClr val="2EA8A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FF60-417B-9538-B865AA8C6834}"/>
              </c:ext>
            </c:extLst>
          </c:dPt>
          <c:dPt>
            <c:idx val="3"/>
            <c:bubble3D val="0"/>
            <c:spPr>
              <a:solidFill>
                <a:srgbClr val="7C5CF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FF60-417B-9538-B865AA8C6834}"/>
              </c:ext>
            </c:extLst>
          </c:dPt>
          <c:dPt>
            <c:idx val="4"/>
            <c:bubble3D val="0"/>
            <c:spPr>
              <a:solidFill>
                <a:srgbClr val="E5484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F60-417B-9538-B865AA8C6834}"/>
              </c:ext>
            </c:extLst>
          </c:dPt>
          <c:dPt>
            <c:idx val="5"/>
            <c:bubble3D val="0"/>
            <c:spPr>
              <a:solidFill>
                <a:srgbClr val="6B778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FF60-417B-9538-B865AA8C6834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F60-417B-9538-B865AA8C6834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F60-417B-9538-B865AA8C6834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F60-417B-9538-B865AA8C6834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F60-417B-9538-B865AA8C6834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F60-417B-9538-B865AA8C6834}"/>
                </c:ext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F60-417B-9538-B865AA8C6834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Sports</c:v>
                </c:pt>
                <c:pt idx="2">
                  <c:v>Toys</c:v>
                </c:pt>
                <c:pt idx="3">
                  <c:v>Pet</c:v>
                </c:pt>
                <c:pt idx="4">
                  <c:v>Clothing</c:v>
                </c:pt>
                <c:pt idx="5">
                  <c:v>Home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89.73</c:v>
                </c:pt>
                <c:pt idx="1">
                  <c:v>3.62</c:v>
                </c:pt>
                <c:pt idx="2">
                  <c:v>2.8</c:v>
                </c:pt>
                <c:pt idx="3">
                  <c:v>2.08</c:v>
                </c:pt>
                <c:pt idx="4">
                  <c:v>1.06</c:v>
                </c:pt>
                <c:pt idx="5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F60-417B-9538-B865AA8C6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F3E"/>
                </a:solidFill>
                <a:latin typeface="+mn-lt"/>
              </a:defRPr>
            </a:pPr>
            <a:r>
              <a:rPr lang="en-IN" sz="1200" b="0" i="0" u="none" strike="noStrike">
                <a:solidFill>
                  <a:srgbClr val="232F3E"/>
                </a:solidFill>
                <a:latin typeface="+mn-lt"/>
              </a:rPr>
              <a:t>Payment status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A8A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5FA5-4D10-A69A-CC3C19619F02}"/>
              </c:ext>
            </c:extLst>
          </c:dPt>
          <c:dPt>
            <c:idx val="1"/>
            <c:bubble3D val="0"/>
            <c:spPr>
              <a:solidFill>
                <a:srgbClr val="FF99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FA5-4D10-A69A-CC3C19619F02}"/>
              </c:ext>
            </c:extLst>
          </c:dPt>
          <c:dPt>
            <c:idx val="2"/>
            <c:bubble3D val="0"/>
            <c:spPr>
              <a:solidFill>
                <a:srgbClr val="E5484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5FA5-4D10-A69A-CC3C19619F02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FA5-4D10-A69A-CC3C19619F02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A5-4D10-A69A-CC3C19619F02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FA5-4D10-A69A-CC3C19619F02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Refunded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84.61</c:v>
                </c:pt>
                <c:pt idx="1">
                  <c:v>13.13</c:v>
                </c:pt>
                <c:pt idx="2">
                  <c:v>2.2599999999999998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A5-4D10-A69A-CC3C19619F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F3E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232F3E"/>
                </a:solidFill>
                <a:latin typeface="+mn-lt"/>
              </a:rPr>
              <a:t>Top 9 products by sales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9 products by sales ($K)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445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Apple iMac Pro</c:v>
                </c:pt>
                <c:pt idx="1">
                  <c:v>iMac 27-Inch Retina</c:v>
                </c:pt>
                <c:pt idx="2">
                  <c:v>Canon EOS R5</c:v>
                </c:pt>
                <c:pt idx="3">
                  <c:v>Apple iMac 24-Inch</c:v>
                </c:pt>
                <c:pt idx="4">
                  <c:v>MacBook Pro 16-inch</c:v>
                </c:pt>
                <c:pt idx="5">
                  <c:v>Dell Alienware Aurora R13</c:v>
                </c:pt>
                <c:pt idx="6">
                  <c:v>MacBook Pro 16 (2021)</c:v>
                </c:pt>
                <c:pt idx="7">
                  <c:v>Dell XPS 17 Laptop</c:v>
                </c:pt>
                <c:pt idx="8">
                  <c:v>Sony A7R IV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630</c:v>
                </c:pt>
                <c:pt idx="1">
                  <c:v>232.2</c:v>
                </c:pt>
                <c:pt idx="2">
                  <c:v>222.3</c:v>
                </c:pt>
                <c:pt idx="3">
                  <c:v>189.8</c:v>
                </c:pt>
                <c:pt idx="4">
                  <c:v>187.5</c:v>
                </c:pt>
                <c:pt idx="5">
                  <c:v>177.5</c:v>
                </c:pt>
                <c:pt idx="6">
                  <c:v>162.5</c:v>
                </c:pt>
                <c:pt idx="7">
                  <c:v>157.5</c:v>
                </c:pt>
                <c:pt idx="8">
                  <c:v>155.1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A7-4F89-86FC-FA57303785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4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F3E"/>
                </a:solidFill>
                <a:latin typeface="+mn-lt"/>
              </a:defRPr>
            </a:pPr>
            <a:r>
              <a:rPr lang="en-IN" sz="1200" b="0" i="0" u="none" strike="noStrike">
                <a:solidFill>
                  <a:srgbClr val="232F3E"/>
                </a:solidFill>
                <a:latin typeface="+mn-lt"/>
              </a:rPr>
              <a:t>Revenue share by category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by category 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4089-4331-BDBC-59C6E6FDAEED}"/>
              </c:ext>
            </c:extLst>
          </c:dPt>
          <c:dPt>
            <c:idx val="1"/>
            <c:bubble3D val="0"/>
            <c:spPr>
              <a:solidFill>
                <a:srgbClr val="1F6FB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89-4331-BDBC-59C6E6FDAEED}"/>
              </c:ext>
            </c:extLst>
          </c:dPt>
          <c:dPt>
            <c:idx val="2"/>
            <c:bubble3D val="0"/>
            <c:spPr>
              <a:solidFill>
                <a:srgbClr val="2EA8A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4089-4331-BDBC-59C6E6FDAEED}"/>
              </c:ext>
            </c:extLst>
          </c:dPt>
          <c:dPt>
            <c:idx val="3"/>
            <c:bubble3D val="0"/>
            <c:spPr>
              <a:solidFill>
                <a:srgbClr val="7C5CF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4089-4331-BDBC-59C6E6FDAEED}"/>
              </c:ext>
            </c:extLst>
          </c:dPt>
          <c:dPt>
            <c:idx val="4"/>
            <c:bubble3D val="0"/>
            <c:spPr>
              <a:solidFill>
                <a:srgbClr val="E5484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4089-4331-BDBC-59C6E6FDAEED}"/>
              </c:ext>
            </c:extLst>
          </c:dPt>
          <c:dPt>
            <c:idx val="5"/>
            <c:bubble3D val="0"/>
            <c:spPr>
              <a:solidFill>
                <a:srgbClr val="6B778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4089-4331-BDBC-59C6E6FDAEED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089-4331-BDBC-59C6E6FDAEED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89-4331-BDBC-59C6E6FDAEED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89-4331-BDBC-59C6E6FDAEED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089-4331-BDBC-59C6E6FDAEED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089-4331-BDBC-59C6E6FDAEED}"/>
                </c:ext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089-4331-BDBC-59C6E6FDAEED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Sports &amp; Outdoors</c:v>
                </c:pt>
                <c:pt idx="2">
                  <c:v>Toys &amp; Games</c:v>
                </c:pt>
                <c:pt idx="3">
                  <c:v>Pet Supplies</c:v>
                </c:pt>
                <c:pt idx="4">
                  <c:v>Clothing</c:v>
                </c:pt>
                <c:pt idx="5">
                  <c:v>Home &amp; Kitchen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89.73</c:v>
                </c:pt>
                <c:pt idx="1">
                  <c:v>3.62</c:v>
                </c:pt>
                <c:pt idx="2">
                  <c:v>2.8</c:v>
                </c:pt>
                <c:pt idx="3">
                  <c:v>2.08</c:v>
                </c:pt>
                <c:pt idx="4">
                  <c:v>1.06</c:v>
                </c:pt>
                <c:pt idx="5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089-4331-BDBC-59C6E6FDAE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F3E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232F3E"/>
                </a:solidFill>
                <a:latin typeface="+mn-lt"/>
              </a:rPr>
              <a:t>Average order value ($), 5+ orders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order value ($), 5+ orders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445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Yvonne Turner</c:v>
                </c:pt>
                <c:pt idx="1">
                  <c:v>Samuel Reed</c:v>
                </c:pt>
                <c:pt idx="2">
                  <c:v>Quinn Green</c:v>
                </c:pt>
                <c:pt idx="3">
                  <c:v>Xavier Green</c:v>
                </c:pt>
                <c:pt idx="4">
                  <c:v>Emma Scott</c:v>
                </c:pt>
                <c:pt idx="5">
                  <c:v>Hugo Smith</c:v>
                </c:pt>
                <c:pt idx="6">
                  <c:v>Gina Coleman</c:v>
                </c:pt>
                <c:pt idx="7">
                  <c:v>Ulysses Parker</c:v>
                </c:pt>
                <c:pt idx="8">
                  <c:v>Felix Lee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1792.83</c:v>
                </c:pt>
                <c:pt idx="1">
                  <c:v>1524.27</c:v>
                </c:pt>
                <c:pt idx="2">
                  <c:v>1366.81</c:v>
                </c:pt>
                <c:pt idx="3">
                  <c:v>1299.98</c:v>
                </c:pt>
                <c:pt idx="4">
                  <c:v>1276.42</c:v>
                </c:pt>
                <c:pt idx="5">
                  <c:v>1238.31</c:v>
                </c:pt>
                <c:pt idx="6">
                  <c:v>1196.6500000000001</c:v>
                </c:pt>
                <c:pt idx="7">
                  <c:v>1077.26</c:v>
                </c:pt>
                <c:pt idx="8">
                  <c:v>1048.31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8C-4178-A69F-180D9E68EB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4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F3E"/>
                </a:solidFill>
                <a:latin typeface="+mn-lt"/>
              </a:defRPr>
            </a:pPr>
            <a:r>
              <a:rPr lang="en-IN" sz="1200" b="0" i="0" u="none" strike="noStrike">
                <a:solidFill>
                  <a:srgbClr val="232F3E"/>
                </a:solidFill>
                <a:latin typeface="+mn-lt"/>
              </a:rPr>
              <a:t>Customer lifetime value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lifetime value ($K)</c:v>
                </c:pt>
              </c:strCache>
            </c:strRef>
          </c:tx>
          <c:spPr>
            <a:solidFill>
              <a:srgbClr val="7C5CF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445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Yvonne Reed</c:v>
                </c:pt>
                <c:pt idx="1">
                  <c:v>Mia Reed</c:v>
                </c:pt>
                <c:pt idx="2">
                  <c:v>Fred Davis</c:v>
                </c:pt>
                <c:pt idx="3">
                  <c:v>Quinn Davis</c:v>
                </c:pt>
                <c:pt idx="4">
                  <c:v>Nathan Lee</c:v>
                </c:pt>
                <c:pt idx="5">
                  <c:v>Henry Reed</c:v>
                </c:pt>
                <c:pt idx="6">
                  <c:v>Wendy Reed</c:v>
                </c:pt>
                <c:pt idx="7">
                  <c:v>Jack Johnson</c:v>
                </c:pt>
                <c:pt idx="8">
                  <c:v>Zackary Davis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89</c:v>
                </c:pt>
                <c:pt idx="1">
                  <c:v>82.4</c:v>
                </c:pt>
                <c:pt idx="2">
                  <c:v>82.2</c:v>
                </c:pt>
                <c:pt idx="3">
                  <c:v>79.2</c:v>
                </c:pt>
                <c:pt idx="4">
                  <c:v>77.099999999999994</c:v>
                </c:pt>
                <c:pt idx="5">
                  <c:v>75.8</c:v>
                </c:pt>
                <c:pt idx="6">
                  <c:v>75.7</c:v>
                </c:pt>
                <c:pt idx="7">
                  <c:v>75</c:v>
                </c:pt>
                <c:pt idx="8">
                  <c:v>74.900000000000006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43-4A3D-9DF7-5168791F76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4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F3E"/>
                </a:solidFill>
                <a:latin typeface="+mn-lt"/>
              </a:defRPr>
            </a:pPr>
            <a:r>
              <a:rPr lang="en-IN" sz="1200" b="0" i="0" u="none" strike="noStrike">
                <a:solidFill>
                  <a:srgbClr val="232F3E"/>
                </a:solidFill>
                <a:latin typeface="+mn-lt"/>
              </a:rPr>
              <a:t>Payment status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status 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A8A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5E9-40EB-9E2C-3ABA508C6D4C}"/>
              </c:ext>
            </c:extLst>
          </c:dPt>
          <c:dPt>
            <c:idx val="1"/>
            <c:bubble3D val="0"/>
            <c:spPr>
              <a:solidFill>
                <a:srgbClr val="FF99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5E9-40EB-9E2C-3ABA508C6D4C}"/>
              </c:ext>
            </c:extLst>
          </c:dPt>
          <c:dPt>
            <c:idx val="2"/>
            <c:bubble3D val="0"/>
            <c:spPr>
              <a:solidFill>
                <a:srgbClr val="E5484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5E9-40EB-9E2C-3ABA508C6D4C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5E9-40EB-9E2C-3ABA508C6D4C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5E9-40EB-9E2C-3ABA508C6D4C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5E9-40EB-9E2C-3ABA508C6D4C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Refunded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84.61</c:v>
                </c:pt>
                <c:pt idx="1">
                  <c:v>13.13</c:v>
                </c:pt>
                <c:pt idx="2">
                  <c:v>2.2599999999999998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5E9-40EB-9E2C-3ABA508C6D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F3E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232F3E"/>
                </a:solidFill>
                <a:latin typeface="+mn-lt"/>
              </a:rPr>
              <a:t>Return rate (%) of top returned products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(%) of top returned products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445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Golf Bag</c:v>
                </c:pt>
                <c:pt idx="1">
                  <c:v>Action Figures Set</c:v>
                </c:pt>
                <c:pt idx="2">
                  <c:v>Fitness Tracker</c:v>
                </c:pt>
                <c:pt idx="3">
                  <c:v>Pet Thermometer</c:v>
                </c:pt>
                <c:pt idx="4">
                  <c:v>Children's Tool Set</c:v>
                </c:pt>
                <c:pt idx="5">
                  <c:v>Activity Center</c:v>
                </c:pt>
                <c:pt idx="6">
                  <c:v>Baseball Helmet</c:v>
                </c:pt>
                <c:pt idx="7">
                  <c:v>Kids' Baseball Mitt</c:v>
                </c:pt>
                <c:pt idx="8">
                  <c:v>Sports Socks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20.63</c:v>
                </c:pt>
                <c:pt idx="1">
                  <c:v>20.43</c:v>
                </c:pt>
                <c:pt idx="2">
                  <c:v>22.84</c:v>
                </c:pt>
                <c:pt idx="3">
                  <c:v>20.56</c:v>
                </c:pt>
                <c:pt idx="4">
                  <c:v>20.28</c:v>
                </c:pt>
                <c:pt idx="5">
                  <c:v>21.18</c:v>
                </c:pt>
                <c:pt idx="6">
                  <c:v>18.61</c:v>
                </c:pt>
                <c:pt idx="7">
                  <c:v>15.16</c:v>
                </c:pt>
                <c:pt idx="8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4D-41F1-90BC-26AD180E9B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4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309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deck: project overview, executive dashboard, ten query walkthroughs, insights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51460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Amazon Sales Analytics  |  MySQL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Amazon Sales Analytics  |  MySQL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QL badge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QL badge text"/>
          <p:cNvSpPr txBox="1"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SQL</a:t>
            </a:r>
            <a:endParaRPr lang="en-US" sz="16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4173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Amazon Sales Analytics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514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MySQL project report and executive dashboard: revenue, customers, inventory, payments and returns across 21,629 sales records</a:t>
            </a:r>
            <a:endParaRPr lang="en-US" sz="1600" dirty="0"/>
          </a:p>
        </p:txBody>
      </p:sp>
      <p:sp>
        <p:nvSpPr>
          <p:cNvPr id="6" name="Presenter"/>
          <p:cNvSpPr txBox="1"/>
          <p:nvPr/>
        </p:nvSpPr>
        <p:spPr>
          <a:xfrm>
            <a:off x="73152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Presented by Atharva Madure  |  Built with MySQL Workbench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Agenda card 01"/>
          <p:cNvSpPr/>
          <p:nvPr/>
        </p:nvSpPr>
        <p:spPr>
          <a:xfrm>
            <a:off x="457200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" name="Agenda num 01"/>
          <p:cNvSpPr txBox="1"/>
          <p:nvPr/>
        </p:nvSpPr>
        <p:spPr>
          <a:xfrm>
            <a:off x="64008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01</a:t>
            </a:r>
            <a:endParaRPr lang="en-US" sz="3600" dirty="0"/>
          </a:p>
        </p:txBody>
      </p:sp>
      <p:sp>
        <p:nvSpPr>
          <p:cNvPr id="5" name="Agenda head 01"/>
          <p:cNvSpPr txBox="1"/>
          <p:nvPr/>
        </p:nvSpPr>
        <p:spPr>
          <a:xfrm>
            <a:off x="64008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Project and data model</a:t>
            </a:r>
            <a:endParaRPr lang="en-US" sz="1600" dirty="0"/>
          </a:p>
        </p:txBody>
      </p:sp>
      <p:sp>
        <p:nvSpPr>
          <p:cNvPr id="6" name="Agenda text 01"/>
          <p:cNvSpPr txBox="1"/>
          <p:nvPr/>
        </p:nvSpPr>
        <p:spPr>
          <a:xfrm>
            <a:off x="64008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Scope, 8-table schema and ERD</a:t>
            </a:r>
            <a:endParaRPr lang="en-US" sz="1200" dirty="0"/>
          </a:p>
        </p:txBody>
      </p:sp>
      <p:sp>
        <p:nvSpPr>
          <p:cNvPr id="7" name="Agenda card 02"/>
          <p:cNvSpPr/>
          <p:nvPr/>
        </p:nvSpPr>
        <p:spPr>
          <a:xfrm>
            <a:off x="2542032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8" name="Agenda num 02"/>
          <p:cNvSpPr txBox="1"/>
          <p:nvPr/>
        </p:nvSpPr>
        <p:spPr>
          <a:xfrm>
            <a:off x="2724912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02</a:t>
            </a:r>
            <a:endParaRPr lang="en-US" sz="3600" dirty="0"/>
          </a:p>
        </p:txBody>
      </p:sp>
      <p:sp>
        <p:nvSpPr>
          <p:cNvPr id="9" name="Agenda head 02"/>
          <p:cNvSpPr txBox="1"/>
          <p:nvPr/>
        </p:nvSpPr>
        <p:spPr>
          <a:xfrm>
            <a:off x="2724912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Executive dashboard</a:t>
            </a:r>
            <a:endParaRPr lang="en-US" sz="1600" dirty="0"/>
          </a:p>
        </p:txBody>
      </p:sp>
      <p:sp>
        <p:nvSpPr>
          <p:cNvPr id="10" name="Agenda text 02"/>
          <p:cNvSpPr txBox="1"/>
          <p:nvPr/>
        </p:nvSpPr>
        <p:spPr>
          <a:xfrm>
            <a:off x="2724912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Headline KPIs and charts</a:t>
            </a:r>
            <a:endParaRPr lang="en-US" sz="1200" dirty="0"/>
          </a:p>
        </p:txBody>
      </p:sp>
      <p:sp>
        <p:nvSpPr>
          <p:cNvPr id="11" name="Agenda card 03"/>
          <p:cNvSpPr/>
          <p:nvPr/>
        </p:nvSpPr>
        <p:spPr>
          <a:xfrm>
            <a:off x="4626864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2" name="Agenda num 03"/>
          <p:cNvSpPr txBox="1"/>
          <p:nvPr/>
        </p:nvSpPr>
        <p:spPr>
          <a:xfrm>
            <a:off x="4809744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03</a:t>
            </a:r>
            <a:endParaRPr lang="en-US" sz="3600" dirty="0"/>
          </a:p>
        </p:txBody>
      </p:sp>
      <p:sp>
        <p:nvSpPr>
          <p:cNvPr id="13" name="Agenda head 03"/>
          <p:cNvSpPr txBox="1"/>
          <p:nvPr/>
        </p:nvSpPr>
        <p:spPr>
          <a:xfrm>
            <a:off x="4809744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Query walkthrough</a:t>
            </a:r>
            <a:endParaRPr lang="en-US" sz="1600" dirty="0"/>
          </a:p>
        </p:txBody>
      </p:sp>
      <p:sp>
        <p:nvSpPr>
          <p:cNvPr id="14" name="Agenda text 03"/>
          <p:cNvSpPr txBox="1"/>
          <p:nvPr/>
        </p:nvSpPr>
        <p:spPr>
          <a:xfrm>
            <a:off x="4809744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Ten business questions, Q1 to Q10</a:t>
            </a:r>
            <a:endParaRPr lang="en-US" sz="1200" dirty="0"/>
          </a:p>
        </p:txBody>
      </p:sp>
      <p:sp>
        <p:nvSpPr>
          <p:cNvPr id="15" name="Agenda card 04"/>
          <p:cNvSpPr/>
          <p:nvPr/>
        </p:nvSpPr>
        <p:spPr>
          <a:xfrm>
            <a:off x="6711696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6" name="Agenda num 04"/>
          <p:cNvSpPr txBox="1"/>
          <p:nvPr/>
        </p:nvSpPr>
        <p:spPr>
          <a:xfrm>
            <a:off x="6894576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04</a:t>
            </a:r>
            <a:endParaRPr lang="en-US" sz="3600" dirty="0"/>
          </a:p>
        </p:txBody>
      </p:sp>
      <p:sp>
        <p:nvSpPr>
          <p:cNvPr id="17" name="Agenda head 04"/>
          <p:cNvSpPr txBox="1"/>
          <p:nvPr/>
        </p:nvSpPr>
        <p:spPr>
          <a:xfrm>
            <a:off x="6894576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Insights and next steps</a:t>
            </a:r>
            <a:endParaRPr lang="en-US" sz="1600" dirty="0"/>
          </a:p>
        </p:txBody>
      </p:sp>
      <p:sp>
        <p:nvSpPr>
          <p:cNvPr id="18" name="Agenda text 04"/>
          <p:cNvSpPr txBox="1"/>
          <p:nvPr/>
        </p:nvSpPr>
        <p:spPr>
          <a:xfrm>
            <a:off x="6894576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Findings, SQL toolkit and actions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3" name="Overview bullets"/>
          <p:cNvSpPr txBox="1"/>
          <p:nvPr/>
        </p:nvSpPr>
        <p:spPr>
          <a:xfrm>
            <a:off x="457200" y="109728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Analysed an Amazon-style e-commerce dataset using MySQL Workbench.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Covered revenue analysis, customer segmentation, inventory, payments and returns.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Used joins, aggregates, CTEs, subqueries, window functions, COALESCE() and NULLIF().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Included data cleaning, NULL handling and real-world business questions.</a:t>
            </a:r>
            <a:endParaRPr lang="en-US" sz="1400" dirty="0"/>
          </a:p>
        </p:txBody>
      </p:sp>
      <p:sp>
        <p:nvSpPr>
          <p:cNvPr id="4" name="Overview flow"/>
          <p:cNvSpPr txBox="1"/>
          <p:nvPr/>
        </p:nvSpPr>
        <p:spPr>
          <a:xfrm>
            <a:off x="457200" y="35661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Customers place orders with sellers, orders generate order items linked to products, products belong to categories and are tracked in inventory, and orders connect to payments and shippings.</a:t>
            </a:r>
            <a:endParaRPr lang="en-US" sz="1100" dirty="0"/>
          </a:p>
        </p:txBody>
      </p:sp>
      <p:sp>
        <p:nvSpPr>
          <p:cNvPr id="5" name="Overview KPI 1 card"/>
          <p:cNvSpPr/>
          <p:nvPr/>
        </p:nvSpPr>
        <p:spPr>
          <a:xfrm>
            <a:off x="5029200" y="1097280"/>
            <a:ext cx="1737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6" name="Overview KPI 1 value"/>
          <p:cNvSpPr txBox="1"/>
          <p:nvPr/>
        </p:nvSpPr>
        <p:spPr>
          <a:xfrm>
            <a:off x="5166360" y="1170432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21,629</a:t>
            </a:r>
            <a:endParaRPr lang="en-US" sz="2800" dirty="0"/>
          </a:p>
        </p:txBody>
      </p:sp>
      <p:sp>
        <p:nvSpPr>
          <p:cNvPr id="7" name="Overview KPI 1 label"/>
          <p:cNvSpPr txBox="1"/>
          <p:nvPr/>
        </p:nvSpPr>
        <p:spPr>
          <a:xfrm>
            <a:off x="5166360" y="1865376"/>
            <a:ext cx="14630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Sales records</a:t>
            </a:r>
            <a:endParaRPr lang="en-US" sz="1050" dirty="0"/>
          </a:p>
        </p:txBody>
      </p:sp>
      <p:sp>
        <p:nvSpPr>
          <p:cNvPr id="8" name="Overview KPI 2 card"/>
          <p:cNvSpPr/>
          <p:nvPr/>
        </p:nvSpPr>
        <p:spPr>
          <a:xfrm>
            <a:off x="6903720" y="1097280"/>
            <a:ext cx="1737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9" name="Overview KPI 2 value"/>
          <p:cNvSpPr txBox="1"/>
          <p:nvPr/>
        </p:nvSpPr>
        <p:spPr>
          <a:xfrm>
            <a:off x="7040880" y="1170432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8</a:t>
            </a:r>
            <a:endParaRPr lang="en-US" sz="2800" dirty="0"/>
          </a:p>
        </p:txBody>
      </p:sp>
      <p:sp>
        <p:nvSpPr>
          <p:cNvPr id="10" name="Overview KPI 2 label"/>
          <p:cNvSpPr txBox="1"/>
          <p:nvPr/>
        </p:nvSpPr>
        <p:spPr>
          <a:xfrm>
            <a:off x="7040880" y="1865376"/>
            <a:ext cx="14630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Tables in schema</a:t>
            </a:r>
            <a:endParaRPr lang="en-US" sz="1050" dirty="0"/>
          </a:p>
        </p:txBody>
      </p:sp>
      <p:sp>
        <p:nvSpPr>
          <p:cNvPr id="11" name="Overview KPI 3 card"/>
          <p:cNvSpPr/>
          <p:nvPr/>
        </p:nvSpPr>
        <p:spPr>
          <a:xfrm>
            <a:off x="5029200" y="2560320"/>
            <a:ext cx="1737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2" name="Overview KPI 3 value"/>
          <p:cNvSpPr txBox="1"/>
          <p:nvPr/>
        </p:nvSpPr>
        <p:spPr>
          <a:xfrm>
            <a:off x="5166360" y="2633472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10</a:t>
            </a:r>
            <a:endParaRPr lang="en-US" sz="2800" dirty="0"/>
          </a:p>
        </p:txBody>
      </p:sp>
      <p:sp>
        <p:nvSpPr>
          <p:cNvPr id="13" name="Overview KPI 3 label"/>
          <p:cNvSpPr txBox="1"/>
          <p:nvPr/>
        </p:nvSpPr>
        <p:spPr>
          <a:xfrm>
            <a:off x="5166360" y="3328416"/>
            <a:ext cx="14630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Business queries</a:t>
            </a:r>
            <a:endParaRPr lang="en-US" sz="1050" dirty="0"/>
          </a:p>
        </p:txBody>
      </p:sp>
      <p:sp>
        <p:nvSpPr>
          <p:cNvPr id="14" name="Overview KPI 4 card"/>
          <p:cNvSpPr/>
          <p:nvPr/>
        </p:nvSpPr>
        <p:spPr>
          <a:xfrm>
            <a:off x="6903720" y="2560320"/>
            <a:ext cx="1737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5" name="Overview KPI 4 value"/>
          <p:cNvSpPr txBox="1"/>
          <p:nvPr/>
        </p:nvSpPr>
        <p:spPr>
          <a:xfrm>
            <a:off x="7040880" y="2633472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$12.64M</a:t>
            </a:r>
            <a:endParaRPr lang="en-US" sz="2800" dirty="0"/>
          </a:p>
        </p:txBody>
      </p:sp>
      <p:sp>
        <p:nvSpPr>
          <p:cNvPr id="16" name="Overview KPI 4 label"/>
          <p:cNvSpPr txBox="1"/>
          <p:nvPr/>
        </p:nvSpPr>
        <p:spPr>
          <a:xfrm>
            <a:off x="7040880" y="3328416"/>
            <a:ext cx="14630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Total revenue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Database schema (ERD)</a:t>
            </a:r>
            <a:endParaRPr lang="en-US" sz="2400" dirty="0"/>
          </a:p>
        </p:txBody>
      </p:sp>
      <p:sp>
        <p:nvSpPr>
          <p:cNvPr id="3" name="ERD frame"/>
          <p:cNvSpPr/>
          <p:nvPr/>
        </p:nvSpPr>
        <p:spPr>
          <a:xfrm>
            <a:off x="457200" y="100584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rgbClr val="E3E7EB"/>
            </a:solidFill>
            <a:prstDash val="solid"/>
          </a:ln>
        </p:spPr>
      </p:sp>
      <p:pic>
        <p:nvPicPr>
          <p:cNvPr id="4" name="ERD diagram" descr="MySQL Workbench ERD of the Amazon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7" y="1097280"/>
            <a:ext cx="2807866" cy="3429000"/>
          </a:xfrm>
          <a:prstGeom prst="rect">
            <a:avLst/>
          </a:prstGeom>
        </p:spPr>
      </p:pic>
      <p:graphicFrame>
        <p:nvGraphicFramePr>
          <p:cNvPr id="5" name="Schem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005840"/>
          <a:ext cx="4846320" cy="271576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chema caption"/>
          <p:cNvSpPr txBox="1"/>
          <p:nvPr/>
        </p:nvSpPr>
        <p:spPr>
          <a:xfrm>
            <a:off x="3840480" y="3886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Core chain: Customers, Orders, Order_Items, Products. Payments and Shippings both depend on Orders.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Executive dashboard</a:t>
            </a:r>
            <a:endParaRPr lang="en-US" sz="2400" dirty="0"/>
          </a:p>
        </p:txBody>
      </p:sp>
      <p:sp>
        <p:nvSpPr>
          <p:cNvPr id="3" name="Dash KPI 1 card"/>
          <p:cNvSpPr/>
          <p:nvPr/>
        </p:nvSpPr>
        <p:spPr>
          <a:xfrm>
            <a:off x="457200" y="9601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" name="Dash KPI 1 value"/>
          <p:cNvSpPr txBox="1"/>
          <p:nvPr/>
        </p:nvSpPr>
        <p:spPr>
          <a:xfrm>
            <a:off x="594360" y="1033272"/>
            <a:ext cx="16459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$12.64M</a:t>
            </a:r>
            <a:endParaRPr lang="en-US" sz="2200" dirty="0"/>
          </a:p>
        </p:txBody>
      </p:sp>
      <p:sp>
        <p:nvSpPr>
          <p:cNvPr id="5" name="Dash KPI 1 label"/>
          <p:cNvSpPr txBox="1"/>
          <p:nvPr/>
        </p:nvSpPr>
        <p:spPr>
          <a:xfrm>
            <a:off x="594360" y="1481328"/>
            <a:ext cx="16459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Total revenue</a:t>
            </a:r>
            <a:endParaRPr lang="en-US" sz="1050" dirty="0"/>
          </a:p>
        </p:txBody>
      </p:sp>
      <p:sp>
        <p:nvSpPr>
          <p:cNvPr id="6" name="Dash KPI 2 card"/>
          <p:cNvSpPr/>
          <p:nvPr/>
        </p:nvSpPr>
        <p:spPr>
          <a:xfrm>
            <a:off x="2542032" y="9601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7" name="Dash KPI 2 value"/>
          <p:cNvSpPr txBox="1"/>
          <p:nvPr/>
        </p:nvSpPr>
        <p:spPr>
          <a:xfrm>
            <a:off x="2679192" y="1033272"/>
            <a:ext cx="16459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21,629</a:t>
            </a:r>
            <a:endParaRPr lang="en-US" sz="2200" dirty="0"/>
          </a:p>
        </p:txBody>
      </p:sp>
      <p:sp>
        <p:nvSpPr>
          <p:cNvPr id="8" name="Dash KPI 2 label"/>
          <p:cNvSpPr txBox="1"/>
          <p:nvPr/>
        </p:nvSpPr>
        <p:spPr>
          <a:xfrm>
            <a:off x="2679192" y="1481328"/>
            <a:ext cx="16459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Payments / orders</a:t>
            </a:r>
            <a:endParaRPr lang="en-US" sz="1050" dirty="0"/>
          </a:p>
        </p:txBody>
      </p:sp>
      <p:sp>
        <p:nvSpPr>
          <p:cNvPr id="9" name="Dash KPI 3 card"/>
          <p:cNvSpPr/>
          <p:nvPr/>
        </p:nvSpPr>
        <p:spPr>
          <a:xfrm>
            <a:off x="4626864" y="9601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Dash KPI 3 value"/>
          <p:cNvSpPr txBox="1"/>
          <p:nvPr/>
        </p:nvSpPr>
        <p:spPr>
          <a:xfrm>
            <a:off x="4764024" y="1033272"/>
            <a:ext cx="16459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84.61%</a:t>
            </a:r>
            <a:endParaRPr lang="en-US" sz="2200" dirty="0"/>
          </a:p>
        </p:txBody>
      </p:sp>
      <p:sp>
        <p:nvSpPr>
          <p:cNvPr id="11" name="Dash KPI 3 label"/>
          <p:cNvSpPr txBox="1"/>
          <p:nvPr/>
        </p:nvSpPr>
        <p:spPr>
          <a:xfrm>
            <a:off x="4764024" y="1481328"/>
            <a:ext cx="16459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Payment success</a:t>
            </a:r>
            <a:endParaRPr lang="en-US" sz="1050" dirty="0"/>
          </a:p>
        </p:txBody>
      </p:sp>
      <p:sp>
        <p:nvSpPr>
          <p:cNvPr id="12" name="Dash KPI 4 card"/>
          <p:cNvSpPr/>
          <p:nvPr/>
        </p:nvSpPr>
        <p:spPr>
          <a:xfrm>
            <a:off x="6711696" y="9601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3" name="Dash KPI 4 value"/>
          <p:cNvSpPr txBox="1"/>
          <p:nvPr/>
        </p:nvSpPr>
        <p:spPr>
          <a:xfrm>
            <a:off x="6848856" y="1033272"/>
            <a:ext cx="16459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89.7%</a:t>
            </a:r>
            <a:endParaRPr lang="en-US" sz="2200" dirty="0"/>
          </a:p>
        </p:txBody>
      </p:sp>
      <p:sp>
        <p:nvSpPr>
          <p:cNvPr id="14" name="Dash KPI 4 label"/>
          <p:cNvSpPr txBox="1"/>
          <p:nvPr/>
        </p:nvSpPr>
        <p:spPr>
          <a:xfrm>
            <a:off x="6848856" y="1481328"/>
            <a:ext cx="16459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Electronics share</a:t>
            </a:r>
            <a:endParaRPr lang="en-US" sz="1050" dirty="0"/>
          </a:p>
        </p:txBody>
      </p:sp>
      <p:graphicFrame>
        <p:nvGraphicFramePr>
          <p:cNvPr id="15" name="Top products chart"/>
          <p:cNvGraphicFramePr/>
          <p:nvPr/>
        </p:nvGraphicFramePr>
        <p:xfrm>
          <a:off x="457200" y="1965960"/>
          <a:ext cx="28346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ategory chart"/>
          <p:cNvGraphicFramePr/>
          <p:nvPr/>
        </p:nvGraphicFramePr>
        <p:xfrm>
          <a:off x="3429000" y="1965960"/>
          <a:ext cx="265176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Payment chart"/>
          <p:cNvGraphicFramePr/>
          <p:nvPr/>
        </p:nvGraphicFramePr>
        <p:xfrm>
          <a:off x="6217920" y="1965960"/>
          <a:ext cx="24688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 badge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Q badge text"/>
          <p:cNvSpPr txBox="1"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Q1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Top products by total sales value</a:t>
            </a:r>
            <a:endParaRPr lang="en-US" sz="2200" dirty="0"/>
          </a:p>
        </p:txBody>
      </p:sp>
      <p:sp>
        <p:nvSpPr>
          <p:cNvPr id="5" name="Screenshot frame"/>
          <p:cNvSpPr/>
          <p:nvPr/>
        </p:nvSpPr>
        <p:spPr>
          <a:xfrm>
            <a:off x="457200" y="1005840"/>
            <a:ext cx="52578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rgbClr val="E3E7EB"/>
            </a:solidFill>
            <a:prstDash val="solid"/>
          </a:ln>
        </p:spPr>
      </p:sp>
      <p:pic>
        <p:nvPicPr>
          <p:cNvPr id="6" name="Query screenshot Q1" descr="MySQL query and result grid for Q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76503"/>
            <a:ext cx="5029200" cy="2470554"/>
          </a:xfrm>
          <a:prstGeom prst="rect">
            <a:avLst/>
          </a:prstGeom>
        </p:spPr>
      </p:pic>
      <p:sp>
        <p:nvSpPr>
          <p:cNvPr id="7" name="Explain label"/>
          <p:cNvSpPr txBox="1"/>
          <p:nvPr/>
        </p:nvSpPr>
        <p:spPr>
          <a:xfrm>
            <a:off x="594360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WHAT THE QUERY DOES</a:t>
            </a:r>
            <a:endParaRPr lang="en-US" sz="1000" dirty="0"/>
          </a:p>
        </p:txBody>
      </p:sp>
      <p:sp>
        <p:nvSpPr>
          <p:cNvPr id="8" name="Explain text"/>
          <p:cNvSpPr txBox="1"/>
          <p:nvPr/>
        </p:nvSpPr>
        <p:spPr>
          <a:xfrm>
            <a:off x="5943600" y="126187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Joins order_items with products, totals quantity and sales value (quantity x price) per product, and sorts by sales so the highest-revenue products come first.</a:t>
            </a:r>
            <a:endParaRPr lang="en-US" sz="1100" dirty="0"/>
          </a:p>
        </p:txBody>
      </p:sp>
      <p:sp>
        <p:nvSpPr>
          <p:cNvPr id="9" name="Finding card"/>
          <p:cNvSpPr/>
          <p:nvPr/>
        </p:nvSpPr>
        <p:spPr>
          <a:xfrm>
            <a:off x="59436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Finding value"/>
          <p:cNvSpPr txBox="1"/>
          <p:nvPr/>
        </p:nvSpPr>
        <p:spPr>
          <a:xfrm>
            <a:off x="6080760" y="3035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$630K</a:t>
            </a:r>
            <a:endParaRPr lang="en-US" sz="2600" dirty="0"/>
          </a:p>
        </p:txBody>
      </p:sp>
      <p:sp>
        <p:nvSpPr>
          <p:cNvPr id="11" name="Finding text"/>
          <p:cNvSpPr txBox="1"/>
          <p:nvPr/>
        </p:nvSpPr>
        <p:spPr>
          <a:xfrm>
            <a:off x="60807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Apple iMac Pro leads, about 2.7x the next product (iMac 27-Inch Retina, $232K).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 badge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Q badge text"/>
          <p:cNvSpPr txBox="1"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Q2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Revenue by category and contribution</a:t>
            </a:r>
            <a:endParaRPr lang="en-US" sz="2200" dirty="0"/>
          </a:p>
        </p:txBody>
      </p:sp>
      <p:sp>
        <p:nvSpPr>
          <p:cNvPr id="5" name="Screenshot frame"/>
          <p:cNvSpPr/>
          <p:nvPr/>
        </p:nvSpPr>
        <p:spPr>
          <a:xfrm>
            <a:off x="457200" y="1005840"/>
            <a:ext cx="52578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rgbClr val="E3E7EB"/>
            </a:solidFill>
            <a:prstDash val="solid"/>
          </a:ln>
        </p:spPr>
      </p:sp>
      <p:pic>
        <p:nvPicPr>
          <p:cNvPr id="6" name="Query screenshot Q2" descr="MySQL query and result grid for Q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42" y="1120140"/>
            <a:ext cx="4326916" cy="3383280"/>
          </a:xfrm>
          <a:prstGeom prst="rect">
            <a:avLst/>
          </a:prstGeom>
        </p:spPr>
      </p:pic>
      <p:sp>
        <p:nvSpPr>
          <p:cNvPr id="7" name="Explain label"/>
          <p:cNvSpPr txBox="1"/>
          <p:nvPr/>
        </p:nvSpPr>
        <p:spPr>
          <a:xfrm>
            <a:off x="594360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WHAT THE QUERY DOES</a:t>
            </a:r>
            <a:endParaRPr lang="en-US" sz="1000" dirty="0"/>
          </a:p>
        </p:txBody>
      </p:sp>
      <p:sp>
        <p:nvSpPr>
          <p:cNvPr id="8" name="Explain text"/>
          <p:cNvSpPr txBox="1"/>
          <p:nvPr/>
        </p:nvSpPr>
        <p:spPr>
          <a:xfrm>
            <a:off x="5943600" y="126187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Multiplies quantity by price per unit for each category, divides by total revenue for the percentage share (rounded to 2 decimals) and sorts in descending order.</a:t>
            </a:r>
            <a:endParaRPr lang="en-US" sz="1100" dirty="0"/>
          </a:p>
        </p:txBody>
      </p:sp>
      <p:sp>
        <p:nvSpPr>
          <p:cNvPr id="9" name="Finding card"/>
          <p:cNvSpPr/>
          <p:nvPr/>
        </p:nvSpPr>
        <p:spPr>
          <a:xfrm>
            <a:off x="59436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Finding value"/>
          <p:cNvSpPr txBox="1"/>
          <p:nvPr/>
        </p:nvSpPr>
        <p:spPr>
          <a:xfrm>
            <a:off x="6080760" y="3035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89.73%</a:t>
            </a:r>
            <a:endParaRPr lang="en-US" sz="2600" dirty="0"/>
          </a:p>
        </p:txBody>
      </p:sp>
      <p:sp>
        <p:nvSpPr>
          <p:cNvPr id="11" name="Finding text"/>
          <p:cNvSpPr txBox="1"/>
          <p:nvPr/>
        </p:nvSpPr>
        <p:spPr>
          <a:xfrm>
            <a:off x="60807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Electronics drives nearly 90% of revenue, a strong concentration risk. Every other category is under 4%.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 badge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Q badge text"/>
          <p:cNvSpPr txBox="1"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Q3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Average order value (customers with 5+ orders)</a:t>
            </a:r>
            <a:endParaRPr lang="en-US" sz="2200" dirty="0"/>
          </a:p>
        </p:txBody>
      </p:sp>
      <p:sp>
        <p:nvSpPr>
          <p:cNvPr id="5" name="Screenshot frame"/>
          <p:cNvSpPr/>
          <p:nvPr/>
        </p:nvSpPr>
        <p:spPr>
          <a:xfrm>
            <a:off x="457200" y="1005840"/>
            <a:ext cx="52578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rgbClr val="E3E7EB"/>
            </a:solidFill>
            <a:prstDash val="solid"/>
          </a:ln>
        </p:spPr>
      </p:sp>
      <p:pic>
        <p:nvPicPr>
          <p:cNvPr id="6" name="Query screenshot Q3" descr="MySQL query and result grid for Q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67988"/>
            <a:ext cx="5029200" cy="2687584"/>
          </a:xfrm>
          <a:prstGeom prst="rect">
            <a:avLst/>
          </a:prstGeom>
        </p:spPr>
      </p:pic>
      <p:sp>
        <p:nvSpPr>
          <p:cNvPr id="7" name="Explain label"/>
          <p:cNvSpPr txBox="1"/>
          <p:nvPr/>
        </p:nvSpPr>
        <p:spPr>
          <a:xfrm>
            <a:off x="594360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WHAT THE QUERY DOES</a:t>
            </a:r>
            <a:endParaRPr lang="en-US" sz="1000" dirty="0"/>
          </a:p>
        </p:txBody>
      </p:sp>
      <p:sp>
        <p:nvSpPr>
          <p:cNvPr id="8" name="Explain text"/>
          <p:cNvSpPr txBox="1"/>
          <p:nvPr/>
        </p:nvSpPr>
        <p:spPr>
          <a:xfrm>
            <a:off x="5943600" y="126187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Joins customers, orders and order_items, keeps customers with more than five orders, and divides total sales by order count to get each customer's AOV.</a:t>
            </a:r>
            <a:endParaRPr lang="en-US" sz="1100" dirty="0"/>
          </a:p>
        </p:txBody>
      </p:sp>
      <p:sp>
        <p:nvSpPr>
          <p:cNvPr id="9" name="Finding card"/>
          <p:cNvSpPr/>
          <p:nvPr/>
        </p:nvSpPr>
        <p:spPr>
          <a:xfrm>
            <a:off x="59436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Finding value"/>
          <p:cNvSpPr txBox="1"/>
          <p:nvPr/>
        </p:nvSpPr>
        <p:spPr>
          <a:xfrm>
            <a:off x="6080760" y="3035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$1,792.83</a:t>
            </a:r>
            <a:endParaRPr lang="en-US" sz="2600" dirty="0"/>
          </a:p>
        </p:txBody>
      </p:sp>
      <p:sp>
        <p:nvSpPr>
          <p:cNvPr id="11" name="Finding text"/>
          <p:cNvSpPr txBox="1"/>
          <p:nvPr/>
        </p:nvSpPr>
        <p:spPr>
          <a:xfrm>
            <a:off x="60807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Highest AOV: Yvonne Turner. Ulysses Parker orders most often (11 orders) but at a lower average value.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 badge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Q badge text"/>
          <p:cNvSpPr txBox="1"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Q4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Monthly sales trend with previous month</a:t>
            </a:r>
            <a:endParaRPr lang="en-US" sz="2200" dirty="0"/>
          </a:p>
        </p:txBody>
      </p:sp>
      <p:sp>
        <p:nvSpPr>
          <p:cNvPr id="5" name="Screenshot frame"/>
          <p:cNvSpPr/>
          <p:nvPr/>
        </p:nvSpPr>
        <p:spPr>
          <a:xfrm>
            <a:off x="457200" y="1005840"/>
            <a:ext cx="52578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rgbClr val="E3E7EB"/>
            </a:solidFill>
            <a:prstDash val="solid"/>
          </a:ln>
        </p:spPr>
      </p:sp>
      <p:pic>
        <p:nvPicPr>
          <p:cNvPr id="6" name="Query screenshot Q4" descr="MySQL query and result grid for Q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42" y="1120140"/>
            <a:ext cx="4976116" cy="3383280"/>
          </a:xfrm>
          <a:prstGeom prst="rect">
            <a:avLst/>
          </a:prstGeom>
        </p:spPr>
      </p:pic>
      <p:sp>
        <p:nvSpPr>
          <p:cNvPr id="7" name="Explain label"/>
          <p:cNvSpPr txBox="1"/>
          <p:nvPr/>
        </p:nvSpPr>
        <p:spPr>
          <a:xfrm>
            <a:off x="594360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WHAT THE QUERY DOES</a:t>
            </a:r>
            <a:endParaRPr lang="en-US" sz="1000" dirty="0"/>
          </a:p>
        </p:txBody>
      </p:sp>
      <p:sp>
        <p:nvSpPr>
          <p:cNvPr id="8" name="Explain text"/>
          <p:cNvSpPr txBox="1"/>
          <p:nvPr/>
        </p:nvSpPr>
        <p:spPr>
          <a:xfrm>
            <a:off x="5943600" y="126187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Totals quantity x price by month and uses the LAG() window function to show the previous month's sales next to the current month.</a:t>
            </a:r>
            <a:endParaRPr lang="en-US" sz="1100" dirty="0"/>
          </a:p>
        </p:txBody>
      </p:sp>
      <p:sp>
        <p:nvSpPr>
          <p:cNvPr id="9" name="Finding card"/>
          <p:cNvSpPr/>
          <p:nvPr/>
        </p:nvSpPr>
        <p:spPr>
          <a:xfrm>
            <a:off x="59436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Finding value"/>
          <p:cNvSpPr txBox="1"/>
          <p:nvPr/>
        </p:nvSpPr>
        <p:spPr>
          <a:xfrm>
            <a:off x="6080760" y="3035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No rows</a:t>
            </a:r>
            <a:endParaRPr lang="en-US" sz="2600" dirty="0"/>
          </a:p>
        </p:txBody>
      </p:sp>
      <p:sp>
        <p:nvSpPr>
          <p:cNvPr id="11" name="Finding text"/>
          <p:cNvSpPr txBox="1"/>
          <p:nvPr/>
        </p:nvSpPr>
        <p:spPr>
          <a:xfrm>
            <a:off x="60807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The filter uses CURDATE() minus 12 months, but the order dates are older. Fix: anchor on MAX(order_date) instead.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 badge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Q badge text"/>
          <p:cNvSpPr txBox="1"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Q5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Customers who registered but never ordered</a:t>
            </a:r>
            <a:endParaRPr lang="en-US" sz="2200" dirty="0"/>
          </a:p>
        </p:txBody>
      </p:sp>
      <p:sp>
        <p:nvSpPr>
          <p:cNvPr id="5" name="Screenshot frame"/>
          <p:cNvSpPr/>
          <p:nvPr/>
        </p:nvSpPr>
        <p:spPr>
          <a:xfrm>
            <a:off x="457200" y="1005840"/>
            <a:ext cx="52578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rgbClr val="E3E7EB"/>
            </a:solidFill>
            <a:prstDash val="solid"/>
          </a:ln>
        </p:spPr>
      </p:sp>
      <p:pic>
        <p:nvPicPr>
          <p:cNvPr id="6" name="Query screenshot Q5" descr="MySQL query and result grid for Q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70907"/>
            <a:ext cx="5029200" cy="2481746"/>
          </a:xfrm>
          <a:prstGeom prst="rect">
            <a:avLst/>
          </a:prstGeom>
        </p:spPr>
      </p:pic>
      <p:sp>
        <p:nvSpPr>
          <p:cNvPr id="7" name="Explain label"/>
          <p:cNvSpPr txBox="1"/>
          <p:nvPr/>
        </p:nvSpPr>
        <p:spPr>
          <a:xfrm>
            <a:off x="594360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WHAT THE QUERY DOES</a:t>
            </a:r>
            <a:endParaRPr lang="en-US" sz="1000" dirty="0"/>
          </a:p>
        </p:txBody>
      </p:sp>
      <p:sp>
        <p:nvSpPr>
          <p:cNvPr id="8" name="Explain text"/>
          <p:cNvSpPr txBox="1"/>
          <p:nvPr/>
        </p:nvSpPr>
        <p:spPr>
          <a:xfrm>
            <a:off x="5943600" y="126187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LEFT JOINs customers to orders and filters for NULL in o.customer_id, which means no matching order exists for that customer.</a:t>
            </a:r>
            <a:endParaRPr lang="en-US" sz="1100" dirty="0"/>
          </a:p>
        </p:txBody>
      </p:sp>
      <p:sp>
        <p:nvSpPr>
          <p:cNvPr id="9" name="Finding card"/>
          <p:cNvSpPr/>
          <p:nvPr/>
        </p:nvSpPr>
        <p:spPr>
          <a:xfrm>
            <a:off x="59436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Finding value"/>
          <p:cNvSpPr txBox="1"/>
          <p:nvPr/>
        </p:nvSpPr>
        <p:spPr>
          <a:xfrm>
            <a:off x="6080760" y="3035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Never ordered</a:t>
            </a:r>
            <a:endParaRPr lang="en-US" sz="2000" dirty="0"/>
          </a:p>
        </p:txBody>
      </p:sp>
      <p:sp>
        <p:nvSpPr>
          <p:cNvPr id="11" name="Finding text"/>
          <p:cNvSpPr txBox="1"/>
          <p:nvPr/>
        </p:nvSpPr>
        <p:spPr>
          <a:xfrm>
            <a:off x="60807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Sample: John Smith, Wanda Fisher, Tara Green (Alabama). A registration-date column is needed to show time since registration.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 badge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Q badge text"/>
          <p:cNvSpPr txBox="1"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Q6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Least-selling category by state</a:t>
            </a:r>
            <a:endParaRPr lang="en-US" sz="2200" dirty="0"/>
          </a:p>
        </p:txBody>
      </p:sp>
      <p:sp>
        <p:nvSpPr>
          <p:cNvPr id="5" name="Screenshot frame"/>
          <p:cNvSpPr/>
          <p:nvPr/>
        </p:nvSpPr>
        <p:spPr>
          <a:xfrm>
            <a:off x="457200" y="1005840"/>
            <a:ext cx="52578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rgbClr val="E3E7EB"/>
            </a:solidFill>
            <a:prstDash val="solid"/>
          </a:ln>
        </p:spPr>
      </p:sp>
      <p:pic>
        <p:nvPicPr>
          <p:cNvPr id="6" name="Query screenshot Q6" descr="MySQL query and result grid for Q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55955"/>
            <a:ext cx="5029200" cy="3311650"/>
          </a:xfrm>
          <a:prstGeom prst="rect">
            <a:avLst/>
          </a:prstGeom>
        </p:spPr>
      </p:pic>
      <p:sp>
        <p:nvSpPr>
          <p:cNvPr id="7" name="Explain label"/>
          <p:cNvSpPr txBox="1"/>
          <p:nvPr/>
        </p:nvSpPr>
        <p:spPr>
          <a:xfrm>
            <a:off x="594360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WHAT THE QUERY DOES</a:t>
            </a:r>
            <a:endParaRPr lang="en-US" sz="1000" dirty="0"/>
          </a:p>
        </p:txBody>
      </p:sp>
      <p:sp>
        <p:nvSpPr>
          <p:cNvPr id="8" name="Explain text"/>
          <p:cNvSpPr txBox="1"/>
          <p:nvPr/>
        </p:nvSpPr>
        <p:spPr>
          <a:xfrm>
            <a:off x="5943600" y="126187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CTE category_sales totals sales per category in each state. CTE ranked_categories applies RANK() within each state. Filtering on rnk = 1 returns one category per state.</a:t>
            </a:r>
            <a:endParaRPr lang="en-US" sz="1100" dirty="0"/>
          </a:p>
        </p:txBody>
      </p:sp>
      <p:sp>
        <p:nvSpPr>
          <p:cNvPr id="9" name="Finding card"/>
          <p:cNvSpPr/>
          <p:nvPr/>
        </p:nvSpPr>
        <p:spPr>
          <a:xfrm>
            <a:off x="59436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Finding value"/>
          <p:cNvSpPr txBox="1"/>
          <p:nvPr/>
        </p:nvSpPr>
        <p:spPr>
          <a:xfrm>
            <a:off x="6080760" y="3035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Electronics</a:t>
            </a:r>
            <a:endParaRPr lang="en-US" sz="2000" dirty="0"/>
          </a:p>
        </p:txBody>
      </p:sp>
      <p:sp>
        <p:nvSpPr>
          <p:cNvPr id="11" name="Finding text"/>
          <p:cNvSpPr txBox="1"/>
          <p:nvPr/>
        </p:nvSpPr>
        <p:spPr>
          <a:xfrm>
            <a:off x="60807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Every visible state returns Electronics, so recheck the ranking direction (ASC vs DESC) for a true least-selling result.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 badge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Q badge text"/>
          <p:cNvSpPr txBox="1"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Q7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Customer lifetime value (CLTV) ranking</a:t>
            </a:r>
            <a:endParaRPr lang="en-US" sz="2200" dirty="0"/>
          </a:p>
        </p:txBody>
      </p:sp>
      <p:sp>
        <p:nvSpPr>
          <p:cNvPr id="5" name="Screenshot frame"/>
          <p:cNvSpPr/>
          <p:nvPr/>
        </p:nvSpPr>
        <p:spPr>
          <a:xfrm>
            <a:off x="457200" y="1005840"/>
            <a:ext cx="52578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rgbClr val="E3E7EB"/>
            </a:solidFill>
            <a:prstDash val="solid"/>
          </a:ln>
        </p:spPr>
      </p:sp>
      <p:pic>
        <p:nvPicPr>
          <p:cNvPr id="6" name="Query screenshot Q7" descr="MySQL query and result grid for Q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3177"/>
            <a:ext cx="5029200" cy="3197206"/>
          </a:xfrm>
          <a:prstGeom prst="rect">
            <a:avLst/>
          </a:prstGeom>
        </p:spPr>
      </p:pic>
      <p:sp>
        <p:nvSpPr>
          <p:cNvPr id="7" name="Explain label"/>
          <p:cNvSpPr txBox="1"/>
          <p:nvPr/>
        </p:nvSpPr>
        <p:spPr>
          <a:xfrm>
            <a:off x="594360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WHAT THE QUERY DOES</a:t>
            </a:r>
            <a:endParaRPr lang="en-US" sz="1000" dirty="0"/>
          </a:p>
        </p:txBody>
      </p:sp>
      <p:sp>
        <p:nvSpPr>
          <p:cNvPr id="8" name="Explain text"/>
          <p:cNvSpPr txBox="1"/>
          <p:nvPr/>
        </p:nvSpPr>
        <p:spPr>
          <a:xfrm>
            <a:off x="5943600" y="126187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CTE customer_cltv sums each customer's spend, with COALESCE() giving customers with no purchases a CLTV of 0. RANK() then orders customers from highest to lowest.</a:t>
            </a:r>
            <a:endParaRPr lang="en-US" sz="1100" dirty="0"/>
          </a:p>
        </p:txBody>
      </p:sp>
      <p:sp>
        <p:nvSpPr>
          <p:cNvPr id="9" name="Finding card"/>
          <p:cNvSpPr/>
          <p:nvPr/>
        </p:nvSpPr>
        <p:spPr>
          <a:xfrm>
            <a:off x="59436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Finding value"/>
          <p:cNvSpPr txBox="1"/>
          <p:nvPr/>
        </p:nvSpPr>
        <p:spPr>
          <a:xfrm>
            <a:off x="6080760" y="3035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$89.0K</a:t>
            </a:r>
            <a:endParaRPr lang="en-US" sz="2600" dirty="0"/>
          </a:p>
        </p:txBody>
      </p:sp>
      <p:sp>
        <p:nvSpPr>
          <p:cNvPr id="11" name="Finding text"/>
          <p:cNvSpPr txBox="1"/>
          <p:nvPr/>
        </p:nvSpPr>
        <p:spPr>
          <a:xfrm>
            <a:off x="60807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Top CLTV: Yvonne Reed. Four of the top nine spenders share the surname Reed.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 badge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Q badge text"/>
          <p:cNvSpPr txBox="1"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Q8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Low stock alert (under 10 units)</a:t>
            </a:r>
            <a:endParaRPr lang="en-US" sz="2200" dirty="0"/>
          </a:p>
        </p:txBody>
      </p:sp>
      <p:sp>
        <p:nvSpPr>
          <p:cNvPr id="5" name="Screenshot frame"/>
          <p:cNvSpPr/>
          <p:nvPr/>
        </p:nvSpPr>
        <p:spPr>
          <a:xfrm>
            <a:off x="457200" y="1005840"/>
            <a:ext cx="52578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rgbClr val="E3E7EB"/>
            </a:solidFill>
            <a:prstDash val="solid"/>
          </a:ln>
        </p:spPr>
      </p:sp>
      <p:pic>
        <p:nvPicPr>
          <p:cNvPr id="6" name="Query screenshot Q8" descr="MySQL query and result grid for Q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56" y="1120140"/>
            <a:ext cx="4640688" cy="3383280"/>
          </a:xfrm>
          <a:prstGeom prst="rect">
            <a:avLst/>
          </a:prstGeom>
        </p:spPr>
      </p:pic>
      <p:sp>
        <p:nvSpPr>
          <p:cNvPr id="7" name="Explain label"/>
          <p:cNvSpPr txBox="1"/>
          <p:nvPr/>
        </p:nvSpPr>
        <p:spPr>
          <a:xfrm>
            <a:off x="594360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WHAT THE QUERY DOES</a:t>
            </a:r>
            <a:endParaRPr lang="en-US" sz="1000" dirty="0"/>
          </a:p>
        </p:txBody>
      </p:sp>
      <p:sp>
        <p:nvSpPr>
          <p:cNvPr id="8" name="Explain text"/>
          <p:cNvSpPr txBox="1"/>
          <p:nvPr/>
        </p:nvSpPr>
        <p:spPr>
          <a:xfrm>
            <a:off x="5943600" y="126187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Joins products with inventory on product_id, keeps items under 10 units and shows ID, name, stock, warehouse and last restock date, lowest stock first.</a:t>
            </a:r>
            <a:endParaRPr lang="en-US" sz="1100" dirty="0"/>
          </a:p>
        </p:txBody>
      </p:sp>
      <p:sp>
        <p:nvSpPr>
          <p:cNvPr id="9" name="Finding card"/>
          <p:cNvSpPr/>
          <p:nvPr/>
        </p:nvSpPr>
        <p:spPr>
          <a:xfrm>
            <a:off x="59436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Finding value"/>
          <p:cNvSpPr txBox="1"/>
          <p:nvPr/>
        </p:nvSpPr>
        <p:spPr>
          <a:xfrm>
            <a:off x="6080760" y="3035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 unit</a:t>
            </a:r>
            <a:endParaRPr lang="en-US" sz="2600" dirty="0"/>
          </a:p>
        </p:txBody>
      </p:sp>
      <p:sp>
        <p:nvSpPr>
          <p:cNvPr id="11" name="Finding text"/>
          <p:cNvSpPr txBox="1"/>
          <p:nvPr/>
        </p:nvSpPr>
        <p:spPr>
          <a:xfrm>
            <a:off x="60807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Stock is down to 1 unit on 7 of 9 listed items, all in Warehouse 1, mostly last restocked in 2022 to 2023. Reorder these first.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 badge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Q badge text"/>
          <p:cNvSpPr txBox="1"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Q9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Payment status breakdown</a:t>
            </a:r>
            <a:endParaRPr lang="en-US" sz="2200" dirty="0"/>
          </a:p>
        </p:txBody>
      </p:sp>
      <p:sp>
        <p:nvSpPr>
          <p:cNvPr id="5" name="Screenshot frame"/>
          <p:cNvSpPr/>
          <p:nvPr/>
        </p:nvSpPr>
        <p:spPr>
          <a:xfrm>
            <a:off x="457200" y="1005840"/>
            <a:ext cx="52578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rgbClr val="E3E7EB"/>
            </a:solidFill>
            <a:prstDash val="solid"/>
          </a:ln>
        </p:spPr>
      </p:sp>
      <p:pic>
        <p:nvPicPr>
          <p:cNvPr id="6" name="Query screenshot Q9" descr="MySQL query and result grid for Q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62910"/>
            <a:ext cx="5029200" cy="3097740"/>
          </a:xfrm>
          <a:prstGeom prst="rect">
            <a:avLst/>
          </a:prstGeom>
        </p:spPr>
      </p:pic>
      <p:sp>
        <p:nvSpPr>
          <p:cNvPr id="7" name="Explain label"/>
          <p:cNvSpPr txBox="1"/>
          <p:nvPr/>
        </p:nvSpPr>
        <p:spPr>
          <a:xfrm>
            <a:off x="594360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WHAT THE QUERY DOES</a:t>
            </a:r>
            <a:endParaRPr lang="en-US" sz="1000" dirty="0"/>
          </a:p>
        </p:txBody>
      </p:sp>
      <p:sp>
        <p:nvSpPr>
          <p:cNvPr id="8" name="Explain text"/>
          <p:cNvSpPr txBox="1"/>
          <p:nvPr/>
        </p:nvSpPr>
        <p:spPr>
          <a:xfrm>
            <a:off x="5943600" y="126187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Groups payments by status, counts each with COUNT(*), calculates each share of the total with a subquery, rounds to 2 decimals and sorts by percentage.</a:t>
            </a:r>
            <a:endParaRPr lang="en-US" sz="1100" dirty="0"/>
          </a:p>
        </p:txBody>
      </p:sp>
      <p:sp>
        <p:nvSpPr>
          <p:cNvPr id="9" name="Finding card"/>
          <p:cNvSpPr/>
          <p:nvPr/>
        </p:nvSpPr>
        <p:spPr>
          <a:xfrm>
            <a:off x="59436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Finding value"/>
          <p:cNvSpPr txBox="1"/>
          <p:nvPr/>
        </p:nvSpPr>
        <p:spPr>
          <a:xfrm>
            <a:off x="6080760" y="3035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84.61%</a:t>
            </a:r>
            <a:endParaRPr lang="en-US" sz="2600" dirty="0"/>
          </a:p>
        </p:txBody>
      </p:sp>
      <p:sp>
        <p:nvSpPr>
          <p:cNvPr id="11" name="Finding text"/>
          <p:cNvSpPr txBox="1"/>
          <p:nvPr/>
        </p:nvSpPr>
        <p:spPr>
          <a:xfrm>
            <a:off x="60807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18,301 payments succeeded. 2,840 (13.13%) were refunded and 488 (2.26%) failed, so about 15.4% did not complete.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 badge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Q badge text"/>
          <p:cNvSpPr txBox="1"/>
          <p:nvPr/>
        </p:nvSpPr>
        <p:spPr>
          <a:xfrm>
            <a:off x="45720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Q10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Products with the most returns</a:t>
            </a:r>
            <a:endParaRPr lang="en-US" sz="2200" dirty="0"/>
          </a:p>
        </p:txBody>
      </p:sp>
      <p:sp>
        <p:nvSpPr>
          <p:cNvPr id="5" name="Screenshot frame"/>
          <p:cNvSpPr/>
          <p:nvPr/>
        </p:nvSpPr>
        <p:spPr>
          <a:xfrm>
            <a:off x="457200" y="1005840"/>
            <a:ext cx="52578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rgbClr val="E3E7EB"/>
            </a:solidFill>
            <a:prstDash val="solid"/>
          </a:ln>
        </p:spPr>
      </p:sp>
      <p:pic>
        <p:nvPicPr>
          <p:cNvPr id="6" name="Query screenshot Q10" descr="MySQL query and result grid for Q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72" y="1120140"/>
            <a:ext cx="4589256" cy="3383280"/>
          </a:xfrm>
          <a:prstGeom prst="rect">
            <a:avLst/>
          </a:prstGeom>
        </p:spPr>
      </p:pic>
      <p:sp>
        <p:nvSpPr>
          <p:cNvPr id="7" name="Explain label"/>
          <p:cNvSpPr txBox="1"/>
          <p:nvPr/>
        </p:nvSpPr>
        <p:spPr>
          <a:xfrm>
            <a:off x="594360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WHAT THE QUERY DOES</a:t>
            </a:r>
            <a:endParaRPr lang="en-US" sz="1000" dirty="0"/>
          </a:p>
        </p:txBody>
      </p:sp>
      <p:sp>
        <p:nvSpPr>
          <p:cNvPr id="8" name="Explain text"/>
          <p:cNvSpPr txBox="1"/>
          <p:nvPr/>
        </p:nvSpPr>
        <p:spPr>
          <a:xfrm>
            <a:off x="5943600" y="126187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CTEs count units sold and units returned (return_date not NULL). COALESCE() fills gaps, NULLIF() prevents division by zero, and the top 10 by returns are shown with their return rate.</a:t>
            </a:r>
            <a:endParaRPr lang="en-US" sz="1100" dirty="0"/>
          </a:p>
        </p:txBody>
      </p:sp>
      <p:sp>
        <p:nvSpPr>
          <p:cNvPr id="9" name="Finding card"/>
          <p:cNvSpPr/>
          <p:nvPr/>
        </p:nvSpPr>
        <p:spPr>
          <a:xfrm>
            <a:off x="59436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Finding value"/>
          <p:cNvSpPr txBox="1"/>
          <p:nvPr/>
        </p:nvSpPr>
        <p:spPr>
          <a:xfrm>
            <a:off x="6080760" y="3035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22.84%</a:t>
            </a:r>
            <a:endParaRPr lang="en-US" sz="2600" dirty="0"/>
          </a:p>
        </p:txBody>
      </p:sp>
      <p:sp>
        <p:nvSpPr>
          <p:cNvPr id="11" name="Finding text"/>
          <p:cNvSpPr txBox="1"/>
          <p:nvPr/>
        </p:nvSpPr>
        <p:spPr>
          <a:xfrm>
            <a:off x="60807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Fitness Tracker has the highest return rate. Golf Bag has the most returned units (52).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Sales performance at a glance</a:t>
            </a:r>
            <a:endParaRPr lang="en-US" sz="2400" dirty="0"/>
          </a:p>
        </p:txBody>
      </p:sp>
      <p:graphicFrame>
        <p:nvGraphicFramePr>
          <p:cNvPr id="3" name="Top 9 products chart"/>
          <p:cNvGraphicFramePr/>
          <p:nvPr/>
        </p:nvGraphicFramePr>
        <p:xfrm>
          <a:off x="457200" y="96012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ategory share chart"/>
          <p:cNvGraphicFramePr/>
          <p:nvPr/>
        </p:nvGraphicFramePr>
        <p:xfrm>
          <a:off x="5394960" y="960120"/>
          <a:ext cx="3291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ales takeaway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Electronics generates $11.34M of $12.64M in revenue. Diversifying the catalogue lowers concentration risk.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Customer value: AOV and CLTV</a:t>
            </a:r>
            <a:endParaRPr lang="en-US" sz="2400" dirty="0"/>
          </a:p>
        </p:txBody>
      </p:sp>
      <p:graphicFrame>
        <p:nvGraphicFramePr>
          <p:cNvPr id="3" name="AOV chart"/>
          <p:cNvGraphicFramePr/>
          <p:nvPr/>
        </p:nvGraphicFramePr>
        <p:xfrm>
          <a:off x="457200" y="96012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LTV chart"/>
          <p:cNvGraphicFramePr/>
          <p:nvPr/>
        </p:nvGraphicFramePr>
        <p:xfrm>
          <a:off x="4663440" y="96012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Customer takeaway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Top spenders are worth $75K to $89K each. They are the natural audience for a loyalty tier.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Payments and returns</a:t>
            </a:r>
            <a:endParaRPr lang="en-US" sz="2400" dirty="0"/>
          </a:p>
        </p:txBody>
      </p:sp>
      <p:graphicFrame>
        <p:nvGraphicFramePr>
          <p:cNvPr id="3" name="Payment status chart"/>
          <p:cNvGraphicFramePr/>
          <p:nvPr/>
        </p:nvGraphicFramePr>
        <p:xfrm>
          <a:off x="457200" y="96012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Return rate chart"/>
          <p:cNvGraphicFramePr/>
          <p:nvPr/>
        </p:nvGraphicFramePr>
        <p:xfrm>
          <a:off x="4480560" y="96012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Payments takeaway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About 15.4% of payments are refunded or failed, and return rates on these products run from 15% to 23%.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SQL toolkit used across the project</a:t>
            </a:r>
            <a:endParaRPr lang="en-US" sz="2400" dirty="0"/>
          </a:p>
        </p:txBody>
      </p:sp>
      <p:graphicFrame>
        <p:nvGraphicFramePr>
          <p:cNvPr id="20" name="SQL toolki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210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was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/ LEFT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orders, items, products, customers, payments and 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to Q10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SUM, COUNT, AVG + GROUP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Totals, counts and averages per product, category or 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to Q3, Q9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only customers with more than 5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CTE (WITH)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complex logic into readable, reusable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Q4, Q6, Q7, Q10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functions: RANK(), LAG()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customers and categories; compare with the previous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Q4, Q6, Q7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the grand total for percentage shares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Q2, Q9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COALESCE() / NULLIF()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NULLs and avoid division by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Q7, Q10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percentages to two decimal places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Q2, Q9, Q10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Key insights</a:t>
            </a:r>
            <a:endParaRPr lang="en-US" sz="2400" dirty="0"/>
          </a:p>
        </p:txBody>
      </p:sp>
      <p:sp>
        <p:nvSpPr>
          <p:cNvPr id="3" name="Insight card 1"/>
          <p:cNvSpPr/>
          <p:nvPr/>
        </p:nvSpPr>
        <p:spPr>
          <a:xfrm>
            <a:off x="457200" y="100584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" name="Insight dot 1"/>
          <p:cNvSpPr/>
          <p:nvPr/>
        </p:nvSpPr>
        <p:spPr>
          <a:xfrm>
            <a:off x="621792" y="118872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nsight head 1"/>
          <p:cNvSpPr txBox="1"/>
          <p:nvPr/>
        </p:nvSpPr>
        <p:spPr>
          <a:xfrm>
            <a:off x="914400" y="11155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Revenue concentration</a:t>
            </a:r>
            <a:endParaRPr lang="en-US" sz="1400" dirty="0"/>
          </a:p>
        </p:txBody>
      </p:sp>
      <p:sp>
        <p:nvSpPr>
          <p:cNvPr id="6" name="Insight text 1"/>
          <p:cNvSpPr txBox="1"/>
          <p:nvPr/>
        </p:nvSpPr>
        <p:spPr>
          <a:xfrm>
            <a:off x="621792" y="157276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Electronics = 89.7% of revenue; iMac Pro alone brings in about $630K.</a:t>
            </a:r>
            <a:endParaRPr lang="en-US" sz="1100" dirty="0"/>
          </a:p>
        </p:txBody>
      </p:sp>
      <p:sp>
        <p:nvSpPr>
          <p:cNvPr id="7" name="Insight card 2"/>
          <p:cNvSpPr/>
          <p:nvPr/>
        </p:nvSpPr>
        <p:spPr>
          <a:xfrm>
            <a:off x="3246120" y="100584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8" name="Insight dot 2"/>
          <p:cNvSpPr/>
          <p:nvPr/>
        </p:nvSpPr>
        <p:spPr>
          <a:xfrm>
            <a:off x="3410712" y="1188720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Insight head 2"/>
          <p:cNvSpPr txBox="1"/>
          <p:nvPr/>
        </p:nvSpPr>
        <p:spPr>
          <a:xfrm>
            <a:off x="3703320" y="11155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Payment leakage</a:t>
            </a:r>
            <a:endParaRPr lang="en-US" sz="1400" dirty="0"/>
          </a:p>
        </p:txBody>
      </p:sp>
      <p:sp>
        <p:nvSpPr>
          <p:cNvPr id="10" name="Insight text 2"/>
          <p:cNvSpPr txBox="1"/>
          <p:nvPr/>
        </p:nvSpPr>
        <p:spPr>
          <a:xfrm>
            <a:off x="3410712" y="157276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15.4% of payments are refunded or failed.</a:t>
            </a:r>
            <a:endParaRPr lang="en-US" sz="1100" dirty="0"/>
          </a:p>
        </p:txBody>
      </p:sp>
      <p:sp>
        <p:nvSpPr>
          <p:cNvPr id="11" name="Insight card 3"/>
          <p:cNvSpPr/>
          <p:nvPr/>
        </p:nvSpPr>
        <p:spPr>
          <a:xfrm>
            <a:off x="6035040" y="100584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2" name="Insight dot 3"/>
          <p:cNvSpPr/>
          <p:nvPr/>
        </p:nvSpPr>
        <p:spPr>
          <a:xfrm>
            <a:off x="6199632" y="118872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Insight head 3"/>
          <p:cNvSpPr txBox="1"/>
          <p:nvPr/>
        </p:nvSpPr>
        <p:spPr>
          <a:xfrm>
            <a:off x="6492240" y="11155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Returns hotspots</a:t>
            </a:r>
            <a:endParaRPr lang="en-US" sz="1400" dirty="0"/>
          </a:p>
        </p:txBody>
      </p:sp>
      <p:sp>
        <p:nvSpPr>
          <p:cNvPr id="14" name="Insight text 3"/>
          <p:cNvSpPr txBox="1"/>
          <p:nvPr/>
        </p:nvSpPr>
        <p:spPr>
          <a:xfrm>
            <a:off x="6199632" y="157276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Return rates of 15% to 23% on sports, kids and pet items.</a:t>
            </a:r>
            <a:endParaRPr lang="en-US" sz="1100" dirty="0"/>
          </a:p>
        </p:txBody>
      </p:sp>
      <p:sp>
        <p:nvSpPr>
          <p:cNvPr id="15" name="Insight card 4"/>
          <p:cNvSpPr/>
          <p:nvPr/>
        </p:nvSpPr>
        <p:spPr>
          <a:xfrm>
            <a:off x="457200" y="27889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6" name="Insight dot 4"/>
          <p:cNvSpPr/>
          <p:nvPr/>
        </p:nvSpPr>
        <p:spPr>
          <a:xfrm>
            <a:off x="621792" y="2971800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Insight head 4"/>
          <p:cNvSpPr txBox="1"/>
          <p:nvPr/>
        </p:nvSpPr>
        <p:spPr>
          <a:xfrm>
            <a:off x="914400" y="2898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Stock risk</a:t>
            </a:r>
            <a:endParaRPr lang="en-US" sz="1400" dirty="0"/>
          </a:p>
        </p:txBody>
      </p:sp>
      <p:sp>
        <p:nvSpPr>
          <p:cNvPr id="18" name="Insight text 4"/>
          <p:cNvSpPr txBox="1"/>
          <p:nvPr/>
        </p:nvSpPr>
        <p:spPr>
          <a:xfrm>
            <a:off x="621792" y="33558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Several products have 1 to 2 units left in Warehouse 1.</a:t>
            </a:r>
            <a:endParaRPr lang="en-US" sz="1100" dirty="0"/>
          </a:p>
        </p:txBody>
      </p:sp>
      <p:sp>
        <p:nvSpPr>
          <p:cNvPr id="19" name="Insight card 5"/>
          <p:cNvSpPr/>
          <p:nvPr/>
        </p:nvSpPr>
        <p:spPr>
          <a:xfrm>
            <a:off x="3246120" y="27889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0" name="Insight dot 5"/>
          <p:cNvSpPr/>
          <p:nvPr/>
        </p:nvSpPr>
        <p:spPr>
          <a:xfrm>
            <a:off x="3410712" y="2971800"/>
            <a:ext cx="201168" cy="20116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Insight head 5"/>
          <p:cNvSpPr txBox="1"/>
          <p:nvPr/>
        </p:nvSpPr>
        <p:spPr>
          <a:xfrm>
            <a:off x="3703320" y="2898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quality</a:t>
            </a:r>
            <a:endParaRPr lang="en-US" sz="1400" dirty="0"/>
          </a:p>
        </p:txBody>
      </p:sp>
      <p:sp>
        <p:nvSpPr>
          <p:cNvPr id="22" name="Insight text 5"/>
          <p:cNvSpPr txBox="1"/>
          <p:nvPr/>
        </p:nvSpPr>
        <p:spPr>
          <a:xfrm>
            <a:off x="3410712" y="33558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Q4 returned no rows, Q6 shows Electronics everywhere, and product names show encoding artefacts.</a:t>
            </a:r>
            <a:endParaRPr lang="en-US" sz="1100" dirty="0"/>
          </a:p>
        </p:txBody>
      </p:sp>
      <p:sp>
        <p:nvSpPr>
          <p:cNvPr id="23" name="Insight card 6"/>
          <p:cNvSpPr/>
          <p:nvPr/>
        </p:nvSpPr>
        <p:spPr>
          <a:xfrm>
            <a:off x="6035040" y="27889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4" name="Insight dot 6"/>
          <p:cNvSpPr/>
          <p:nvPr/>
        </p:nvSpPr>
        <p:spPr>
          <a:xfrm>
            <a:off x="6199632" y="297180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Insight head 6"/>
          <p:cNvSpPr txBox="1"/>
          <p:nvPr/>
        </p:nvSpPr>
        <p:spPr>
          <a:xfrm>
            <a:off x="6492240" y="2898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Customer value</a:t>
            </a:r>
            <a:endParaRPr lang="en-US" sz="1400" dirty="0"/>
          </a:p>
        </p:txBody>
      </p:sp>
      <p:sp>
        <p:nvSpPr>
          <p:cNvPr id="26" name="Insight text 6"/>
          <p:cNvSpPr txBox="1"/>
          <p:nvPr/>
        </p:nvSpPr>
        <p:spPr>
          <a:xfrm>
            <a:off x="6199632" y="33558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Top CLTV customers are worth $75K to $89K, while some signups never ordered.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Recommended next steps</a:t>
            </a:r>
            <a:endParaRPr lang="en-US" sz="2400" dirty="0"/>
          </a:p>
        </p:txBody>
      </p:sp>
      <p:sp>
        <p:nvSpPr>
          <p:cNvPr id="3" name="Step card 1"/>
          <p:cNvSpPr/>
          <p:nvPr/>
        </p:nvSpPr>
        <p:spPr>
          <a:xfrm>
            <a:off x="457200" y="100584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" name="Step bar 1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tep head 1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Fix now</a:t>
            </a:r>
            <a:endParaRPr lang="en-US" sz="2000" dirty="0"/>
          </a:p>
        </p:txBody>
      </p:sp>
      <p:sp>
        <p:nvSpPr>
          <p:cNvPr id="6" name="Step sub 1"/>
          <p:cNvSpPr txBox="1"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Data quality</a:t>
            </a:r>
            <a:endParaRPr lang="en-US" sz="1100" dirty="0"/>
          </a:p>
        </p:txBody>
      </p:sp>
      <p:sp>
        <p:nvSpPr>
          <p:cNvPr id="7" name="Step list 1"/>
          <p:cNvSpPr txBox="1"/>
          <p:nvPr/>
        </p:nvSpPr>
        <p:spPr>
          <a:xfrm>
            <a:off x="640080" y="201168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Rewrite Q4 with MAX(order_date) as the anchor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Recheck Q6 ranking direction (ASC vs DESC)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Add a registration-date column for Q5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Switch to utf8mb4 to remove encoding artefacts</a:t>
            </a:r>
            <a:endParaRPr lang="en-US" sz="1200" dirty="0"/>
          </a:p>
        </p:txBody>
      </p:sp>
      <p:sp>
        <p:nvSpPr>
          <p:cNvPr id="8" name="Step card 2"/>
          <p:cNvSpPr/>
          <p:nvPr/>
        </p:nvSpPr>
        <p:spPr>
          <a:xfrm>
            <a:off x="3246120" y="100584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9" name="Step bar 2"/>
          <p:cNvSpPr/>
          <p:nvPr/>
        </p:nvSpPr>
        <p:spPr>
          <a:xfrm>
            <a:off x="3246120" y="1005840"/>
            <a:ext cx="265176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 head 2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Act next</a:t>
            </a:r>
            <a:endParaRPr lang="en-US" sz="2000" dirty="0"/>
          </a:p>
        </p:txBody>
      </p:sp>
      <p:sp>
        <p:nvSpPr>
          <p:cNvPr id="11" name="Step sub 2"/>
          <p:cNvSpPr txBox="1"/>
          <p:nvPr/>
        </p:nvSpPr>
        <p:spPr>
          <a:xfrm>
            <a:off x="34290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12" name="Step list 2"/>
          <p:cNvSpPr txBox="1"/>
          <p:nvPr/>
        </p:nvSpPr>
        <p:spPr>
          <a:xfrm>
            <a:off x="3429000" y="201168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Reorder single-unit products in Warehouse 1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Investigate failed and refunded payments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Review quality and listings for high-return items</a:t>
            </a:r>
            <a:endParaRPr lang="en-US" sz="1200" dirty="0"/>
          </a:p>
        </p:txBody>
      </p:sp>
      <p:sp>
        <p:nvSpPr>
          <p:cNvPr id="13" name="Step card 3"/>
          <p:cNvSpPr/>
          <p:nvPr/>
        </p:nvSpPr>
        <p:spPr>
          <a:xfrm>
            <a:off x="6035040" y="100584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4" name="Step bar 3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tep head 3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Grow</a:t>
            </a:r>
            <a:endParaRPr lang="en-US" sz="2000" dirty="0"/>
          </a:p>
        </p:txBody>
      </p:sp>
      <p:sp>
        <p:nvSpPr>
          <p:cNvPr id="16" name="Step sub 3"/>
          <p:cNvSpPr txBox="1"/>
          <p:nvPr/>
        </p:nvSpPr>
        <p:spPr>
          <a:xfrm>
            <a:off x="62179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Customers and catalogue</a:t>
            </a:r>
            <a:endParaRPr lang="en-US" sz="1100" dirty="0"/>
          </a:p>
        </p:txBody>
      </p:sp>
      <p:sp>
        <p:nvSpPr>
          <p:cNvPr id="17" name="Step list 3"/>
          <p:cNvSpPr txBox="1"/>
          <p:nvPr/>
        </p:nvSpPr>
        <p:spPr>
          <a:xfrm>
            <a:off x="6217920" y="201168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Diversify beyond Electronics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Launch a loyalty tier for top CLTV customers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Win back signups who never ordered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4173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514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These MySQL queries analyse revenue, customers, inventory, payments and returns. Joins, aggregates, CTEs, window functions and NULL-handling functions turn raw data into insights that support inventory planning, payment monitoring and product performance evaluation.</a:t>
            </a:r>
            <a:endParaRPr lang="en-US" sz="1600" dirty="0"/>
          </a:p>
        </p:txBody>
      </p:sp>
      <p:sp>
        <p:nvSpPr>
          <p:cNvPr id="4" name="Thank you"/>
          <p:cNvSpPr txBox="1"/>
          <p:nvPr/>
        </p:nvSpPr>
        <p:spPr>
          <a:xfrm>
            <a:off x="73152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Thank you  |  Atharva Madure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azon Analytics">
  <a:themeElements>
    <a:clrScheme name="Amazon Analytics">
      <a:dk1>
        <a:srgbClr val="131A22"/>
      </a:dk1>
      <a:lt1>
        <a:srgbClr val="FFFFFF"/>
      </a:lt1>
      <a:dk2>
        <a:srgbClr val="232F3E"/>
      </a:dk2>
      <a:lt2>
        <a:srgbClr val="F3F5F7"/>
      </a:lt2>
      <a:accent1>
        <a:srgbClr val="FF9900"/>
      </a:accent1>
      <a:accent2>
        <a:srgbClr val="1F6FB2"/>
      </a:accent2>
      <a:accent3>
        <a:srgbClr val="2EA8A0"/>
      </a:accent3>
      <a:accent4>
        <a:srgbClr val="7C5CFC"/>
      </a:accent4>
      <a:accent5>
        <a:srgbClr val="E5484D"/>
      </a:accent5>
      <a:accent6>
        <a:srgbClr val="6B7785"/>
      </a:accent6>
      <a:hlink>
        <a:srgbClr val="1F6FB2"/>
      </a:hlink>
      <a:folHlink>
        <a:srgbClr val="6B7785"/>
      </a:folHlink>
    </a:clrScheme>
    <a:fontScheme name="Amazon Analytic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1499</Words>
  <Application>Microsoft Office PowerPoint</Application>
  <PresentationFormat>On-screen Show (16:9)</PresentationFormat>
  <Paragraphs>266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Amazon Analytics</vt:lpstr>
      <vt:lpstr>Amazon Sales Analytics</vt:lpstr>
      <vt:lpstr>Agenda</vt:lpstr>
      <vt:lpstr>Project overview</vt:lpstr>
      <vt:lpstr>Database schema (ERD)</vt:lpstr>
      <vt:lpstr>Executive dashboard</vt:lpstr>
      <vt:lpstr>Top products by total sales value</vt:lpstr>
      <vt:lpstr>Revenue by category and contribution</vt:lpstr>
      <vt:lpstr>Average order value (customers with 5+ orders)</vt:lpstr>
      <vt:lpstr>Monthly sales trend with previous month</vt:lpstr>
      <vt:lpstr>Customers who registered but never ordered</vt:lpstr>
      <vt:lpstr>Least-selling category by state</vt:lpstr>
      <vt:lpstr>Customer lifetime value (CLTV) ranking</vt:lpstr>
      <vt:lpstr>Low stock alert (under 10 units)</vt:lpstr>
      <vt:lpstr>Payment status breakdown</vt:lpstr>
      <vt:lpstr>Products with the most returns</vt:lpstr>
      <vt:lpstr>Sales performance at a glance</vt:lpstr>
      <vt:lpstr>Customer value: AOV and CLTV</vt:lpstr>
      <vt:lpstr>Payments and returns</vt:lpstr>
      <vt:lpstr>SQL toolkit used across the project</vt:lpstr>
      <vt:lpstr>Key insights</vt:lpstr>
      <vt:lpstr>Recommended next steps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Analytics - MySQL Project and Dashboard</dc:title>
  <dc:subject>PptxGenJS Presentation</dc:subject>
  <dc:creator>Atharva Madure</dc:creator>
  <cp:lastModifiedBy>ATHARVA MADURE</cp:lastModifiedBy>
  <cp:revision>1</cp:revision>
  <dcterms:created xsi:type="dcterms:W3CDTF">2026-10-14T05:58:29Z</dcterms:created>
  <dcterms:modified xsi:type="dcterms:W3CDTF">2026-10-15T01:05:57Z</dcterms:modified>
</cp:coreProperties>
</file>