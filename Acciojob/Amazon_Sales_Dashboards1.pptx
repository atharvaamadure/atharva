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5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Apple iMac Pro</c:v>
                  </c:pt>
                  <c:pt idx="1">
                    <c:v>iMac 27-Inch Retina</c:v>
                  </c:pt>
                  <c:pt idx="2">
                    <c:v>Canon EOS R5</c:v>
                  </c:pt>
                  <c:pt idx="3">
                    <c:v>Apple iMac 24-Inch</c:v>
                  </c:pt>
                  <c:pt idx="4">
                    <c:v>MacBook Pro 16-inch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630</c:v>
                </c:pt>
                <c:pt idx="1">
                  <c:v>232.2</c:v>
                </c:pt>
                <c:pt idx="2">
                  <c:v>222.3</c:v>
                </c:pt>
                <c:pt idx="3">
                  <c:v>189.8</c:v>
                </c:pt>
                <c:pt idx="4">
                  <c:v>187.5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B465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65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990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EA8A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4A6FA5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8E6BBF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E5484D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9AA5B1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Electronics 89.7%</c:v>
                </c:pt>
                <c:pt idx="1">
                  <c:v>Sports 3.6%</c:v>
                </c:pt>
                <c:pt idx="2">
                  <c:v>Toys 2.8%</c:v>
                </c:pt>
                <c:pt idx="3">
                  <c:v>Pet 2.1%</c:v>
                </c:pt>
                <c:pt idx="4">
                  <c:v>Clothing 1.1%</c:v>
                </c:pt>
                <c:pt idx="5">
                  <c:v>Home 0.7%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89.73</c:v>
                </c:pt>
                <c:pt idx="1">
                  <c:v>3.62</c:v>
                </c:pt>
                <c:pt idx="2">
                  <c:v>2.8</c:v>
                </c:pt>
                <c:pt idx="3">
                  <c:v>2.08</c:v>
                </c:pt>
                <c:pt idx="4">
                  <c:v>1.06</c:v>
                </c:pt>
                <c:pt idx="5">
                  <c:v>0.71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3B465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A8A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F990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5484D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Successful 84.6%</c:v>
                </c:pt>
                <c:pt idx="1">
                  <c:v>Refunded 13.1%</c:v>
                </c:pt>
                <c:pt idx="2">
                  <c:v>Failed 2.3%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84.61</c:v>
                </c:pt>
                <c:pt idx="1">
                  <c:v>13.13</c:v>
                </c:pt>
                <c:pt idx="2">
                  <c:v>2.26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3B465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5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Yvonne Reed</c:v>
                  </c:pt>
                  <c:pt idx="1">
                    <c:v>Mia Reed</c:v>
                  </c:pt>
                  <c:pt idx="2">
                    <c:v>Fred Davis</c:v>
                  </c:pt>
                  <c:pt idx="3">
                    <c:v>Quinn Davis</c:v>
                  </c:pt>
                  <c:pt idx="4">
                    <c:v>Nathan Lee</c:v>
                  </c:pt>
                  <c:pt idx="5">
                    <c:v>Henry Reed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</c:v>
                </c:pt>
                <c:pt idx="1">
                  <c:v>82.4</c:v>
                </c:pt>
                <c:pt idx="2">
                  <c:v>82.2</c:v>
                </c:pt>
                <c:pt idx="3">
                  <c:v>79.2</c:v>
                </c:pt>
                <c:pt idx="4">
                  <c:v>77.1</c:v>
                </c:pt>
                <c:pt idx="5">
                  <c:v>75.8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B465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65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5484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5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Fitness Tracker</c:v>
                  </c:pt>
                  <c:pt idx="1">
                    <c:v>Activity Center</c:v>
                  </c:pt>
                  <c:pt idx="2">
                    <c:v>Golf Bag</c:v>
                  </c:pt>
                  <c:pt idx="3">
                    <c:v>Pet Thermometer</c:v>
                  </c:pt>
                  <c:pt idx="4">
                    <c:v>Action Figures Set</c:v>
                  </c:pt>
                  <c:pt idx="5">
                    <c:v>Children's Tool Set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22.84</c:v>
                </c:pt>
                <c:pt idx="1">
                  <c:v>21.18</c:v>
                </c:pt>
                <c:pt idx="2">
                  <c:v>20.63</c:v>
                </c:pt>
                <c:pt idx="3">
                  <c:v>20.56</c:v>
                </c:pt>
                <c:pt idx="4">
                  <c:v>20.43</c:v>
                </c:pt>
                <c:pt idx="5">
                  <c:v>20.28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B465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65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Single-slide executive dashboard built from the Amazon Sales Analytics deck. Figures: total revenue $12.64M across 21,629 sales records; Electronics 89.73% of revenue; payments 84.61% successful, 13.13% refunded, 2.26% failed; highest return rate Fitness Tracker 22.84%; top CLTV Yvonne Reed $89.0K.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Header accent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Amazon Sales Analytics Dashboard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132320" y="91440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5DAE0"/>
                </a:solidFill>
              </a:rPr>
              <a:t>MySQL project  |  21,629 sales records  |  Atharva Madure</a:t>
            </a:r>
            <a:endParaRPr lang="en-US" sz="1200" dirty="0"/>
          </a:p>
        </p:txBody>
      </p:sp>
      <p:sp>
        <p:nvSpPr>
          <p:cNvPr id="6" name="KPI card 1"/>
          <p:cNvSpPr/>
          <p:nvPr/>
        </p:nvSpPr>
        <p:spPr>
          <a:xfrm>
            <a:off x="457200" y="914400"/>
            <a:ext cx="17830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7" name="KPI accent 1"/>
          <p:cNvSpPr/>
          <p:nvPr/>
        </p:nvSpPr>
        <p:spPr>
          <a:xfrm>
            <a:off x="457200" y="914400"/>
            <a:ext cx="64008" cy="8046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6926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6E00"/>
                </a:solidFill>
              </a:rPr>
              <a:t>$12.64M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3716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10" name="KPI card 2"/>
          <p:cNvSpPr/>
          <p:nvPr/>
        </p:nvSpPr>
        <p:spPr>
          <a:xfrm>
            <a:off x="2355494" y="914400"/>
            <a:ext cx="17830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11" name="KPI accent 2"/>
          <p:cNvSpPr/>
          <p:nvPr/>
        </p:nvSpPr>
        <p:spPr>
          <a:xfrm>
            <a:off x="2355494" y="914400"/>
            <a:ext cx="64008" cy="804672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38374" y="96926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F3E"/>
                </a:solidFill>
              </a:rPr>
              <a:t>21,629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538374" y="13716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</a:rPr>
              <a:t>Sales records</a:t>
            </a:r>
            <a:endParaRPr lang="en-US" sz="1000" dirty="0"/>
          </a:p>
        </p:txBody>
      </p:sp>
      <p:sp>
        <p:nvSpPr>
          <p:cNvPr id="14" name="KPI card 3"/>
          <p:cNvSpPr/>
          <p:nvPr/>
        </p:nvSpPr>
        <p:spPr>
          <a:xfrm>
            <a:off x="4253789" y="914400"/>
            <a:ext cx="17830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15" name="KPI accent 3"/>
          <p:cNvSpPr/>
          <p:nvPr/>
        </p:nvSpPr>
        <p:spPr>
          <a:xfrm>
            <a:off x="4253789" y="914400"/>
            <a:ext cx="64008" cy="8046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36669" y="96926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6E00"/>
                </a:solidFill>
              </a:rPr>
              <a:t>89.7%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436669" y="13716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</a:rPr>
              <a:t>Electronics share of revenue</a:t>
            </a:r>
            <a:endParaRPr lang="en-US" sz="1000" dirty="0"/>
          </a:p>
        </p:txBody>
      </p:sp>
      <p:sp>
        <p:nvSpPr>
          <p:cNvPr id="18" name="KPI card 4"/>
          <p:cNvSpPr/>
          <p:nvPr/>
        </p:nvSpPr>
        <p:spPr>
          <a:xfrm>
            <a:off x="6152083" y="914400"/>
            <a:ext cx="17830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19" name="KPI accent 4"/>
          <p:cNvSpPr/>
          <p:nvPr/>
        </p:nvSpPr>
        <p:spPr>
          <a:xfrm>
            <a:off x="6152083" y="914400"/>
            <a:ext cx="64008" cy="804672"/>
          </a:xfrm>
          <a:prstGeom prst="rect">
            <a:avLst/>
          </a:prstGeom>
          <a:solidFill>
            <a:srgbClr val="2EA8A0"/>
          </a:solidFill>
          <a:ln w="12700">
            <a:solidFill>
              <a:srgbClr val="2EA8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34963" y="96926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A8A0"/>
                </a:solidFill>
              </a:rPr>
              <a:t>84.61%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334963" y="13716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</a:rPr>
              <a:t>Payment success rate</a:t>
            </a:r>
            <a:endParaRPr lang="en-US" sz="1000" dirty="0"/>
          </a:p>
        </p:txBody>
      </p:sp>
      <p:sp>
        <p:nvSpPr>
          <p:cNvPr id="22" name="KPI card 5"/>
          <p:cNvSpPr/>
          <p:nvPr/>
        </p:nvSpPr>
        <p:spPr>
          <a:xfrm>
            <a:off x="8050378" y="914400"/>
            <a:ext cx="17830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23" name="KPI accent 5"/>
          <p:cNvSpPr/>
          <p:nvPr/>
        </p:nvSpPr>
        <p:spPr>
          <a:xfrm>
            <a:off x="8050378" y="914400"/>
            <a:ext cx="64008" cy="804672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33258" y="96926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484D"/>
                </a:solidFill>
              </a:rPr>
              <a:t>15.4%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233258" y="13716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</a:rPr>
              <a:t>Payments refunded or failed</a:t>
            </a:r>
            <a:endParaRPr lang="en-US" sz="1000" dirty="0"/>
          </a:p>
        </p:txBody>
      </p:sp>
      <p:sp>
        <p:nvSpPr>
          <p:cNvPr id="26" name="KPI card 6"/>
          <p:cNvSpPr/>
          <p:nvPr/>
        </p:nvSpPr>
        <p:spPr>
          <a:xfrm>
            <a:off x="9948672" y="914400"/>
            <a:ext cx="17830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27" name="KPI accent 6"/>
          <p:cNvSpPr/>
          <p:nvPr/>
        </p:nvSpPr>
        <p:spPr>
          <a:xfrm>
            <a:off x="9948672" y="914400"/>
            <a:ext cx="64008" cy="804672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131552" y="96926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484D"/>
                </a:solidFill>
              </a:rPr>
              <a:t>22.84%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10131552" y="13716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</a:rPr>
              <a:t>Top return rate (Fitness Tracker)</a:t>
            </a:r>
            <a:endParaRPr lang="en-US" sz="1000" dirty="0"/>
          </a:p>
        </p:txBody>
      </p:sp>
      <p:sp>
        <p:nvSpPr>
          <p:cNvPr id="30" name="Top products card"/>
          <p:cNvSpPr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1883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Top 5 products by sales ($K)</a:t>
            </a:r>
            <a:endParaRPr lang="en-US" sz="12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548640" y="2194560"/>
          <a:ext cx="393192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Category card"/>
          <p:cNvSpPr/>
          <p:nvPr/>
        </p:nvSpPr>
        <p:spPr>
          <a:xfrm>
            <a:off x="4681728" y="1828800"/>
            <a:ext cx="35661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818888" y="18836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Revenue share by category</a:t>
            </a:r>
            <a:endParaRPr lang="en-US" sz="1200" dirty="0"/>
          </a:p>
        </p:txBody>
      </p:sp>
      <p:graphicFrame>
        <p:nvGraphicFramePr>
          <p:cNvPr id="35" name="Chart 1" descr=""/>
          <p:cNvGraphicFramePr/>
          <p:nvPr/>
        </p:nvGraphicFramePr>
        <p:xfrm>
          <a:off x="4773168" y="2194560"/>
          <a:ext cx="338328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6" name="Payments card"/>
          <p:cNvSpPr/>
          <p:nvPr/>
        </p:nvSpPr>
        <p:spPr>
          <a:xfrm>
            <a:off x="8357616" y="1828800"/>
            <a:ext cx="3374136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8494776" y="188366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Payment status</a:t>
            </a:r>
            <a:endParaRPr lang="en-US" sz="1200" dirty="0"/>
          </a:p>
        </p:txBody>
      </p:sp>
      <p:graphicFrame>
        <p:nvGraphicFramePr>
          <p:cNvPr id="38" name="Chart 2" descr=""/>
          <p:cNvGraphicFramePr/>
          <p:nvPr/>
        </p:nvGraphicFramePr>
        <p:xfrm>
          <a:off x="8449056" y="2194560"/>
          <a:ext cx="3191256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9" name="CLTV card"/>
          <p:cNvSpPr/>
          <p:nvPr/>
        </p:nvSpPr>
        <p:spPr>
          <a:xfrm>
            <a:off x="457200" y="4224528"/>
            <a:ext cx="41148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594360" y="4279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Top customers by lifetime value ($K)</a:t>
            </a:r>
            <a:endParaRPr lang="en-US" sz="1200" dirty="0"/>
          </a:p>
        </p:txBody>
      </p:sp>
      <p:graphicFrame>
        <p:nvGraphicFramePr>
          <p:cNvPr id="41" name="Chart 3" descr=""/>
          <p:cNvGraphicFramePr/>
          <p:nvPr/>
        </p:nvGraphicFramePr>
        <p:xfrm>
          <a:off x="548640" y="4590288"/>
          <a:ext cx="393192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2" name="Returns card"/>
          <p:cNvSpPr/>
          <p:nvPr/>
        </p:nvSpPr>
        <p:spPr>
          <a:xfrm>
            <a:off x="4681728" y="4224528"/>
            <a:ext cx="35661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4818888" y="4279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Highest return rates (%)</a:t>
            </a:r>
            <a:endParaRPr lang="en-US" sz="1200" dirty="0"/>
          </a:p>
        </p:txBody>
      </p:sp>
      <p:graphicFrame>
        <p:nvGraphicFramePr>
          <p:cNvPr id="44" name="Chart 4" descr=""/>
          <p:cNvGraphicFramePr/>
          <p:nvPr/>
        </p:nvGraphicFramePr>
        <p:xfrm>
          <a:off x="4773168" y="4590288"/>
          <a:ext cx="338328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5" name="Insights card"/>
          <p:cNvSpPr/>
          <p:nvPr/>
        </p:nvSpPr>
        <p:spPr>
          <a:xfrm>
            <a:off x="8357616" y="4224528"/>
            <a:ext cx="3374136" cy="228600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8522208" y="427939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</a:rPr>
              <a:t>Key insights and actions</a:t>
            </a:r>
            <a:endParaRPr lang="en-US" sz="1200" dirty="0"/>
          </a:p>
        </p:txBody>
      </p:sp>
      <p:sp>
        <p:nvSpPr>
          <p:cNvPr id="47" name="Text 40"/>
          <p:cNvSpPr txBox="1"/>
          <p:nvPr/>
        </p:nvSpPr>
        <p:spPr>
          <a:xfrm>
            <a:off x="8522208" y="4608576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</a:rPr>
              <a:t>Concentration: </a:t>
            </a:r>
            <a:pPr indent="0" marL="0">
              <a:buNone/>
            </a:pPr>
            <a:r>
              <a:rPr lang="en-US" sz="1050" dirty="0">
                <a:solidFill>
                  <a:srgbClr val="D5DAE0"/>
                </a:solidFill>
              </a:rPr>
              <a:t>Electronics is 89.7% of revenue. Diversify the catalogue.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</a:rPr>
              <a:t>Leakage: </a:t>
            </a:r>
            <a:pPr indent="0" marL="0">
              <a:buNone/>
            </a:pPr>
            <a:r>
              <a:rPr lang="en-US" sz="1050" dirty="0">
                <a:solidFill>
                  <a:srgbClr val="D5DAE0"/>
                </a:solidFill>
              </a:rPr>
              <a:t>15.4% of payments refunded or failed. Investigate causes.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</a:rPr>
              <a:t>Stock risk: </a:t>
            </a:r>
            <a:pPr indent="0" marL="0">
              <a:buNone/>
            </a:pPr>
            <a:r>
              <a:rPr lang="en-US" sz="1050" dirty="0">
                <a:solidFill>
                  <a:srgbClr val="D5DAE0"/>
                </a:solidFill>
              </a:rPr>
              <a:t>7 items at 1 unit in Warehouse 1. Reorder first.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</a:rPr>
              <a:t>Loyalty: </a:t>
            </a:r>
            <a:pPr indent="0" marL="0">
              <a:buNone/>
            </a:pPr>
            <a:r>
              <a:rPr lang="en-US" sz="1050" dirty="0">
                <a:solidFill>
                  <a:srgbClr val="D5DAE0"/>
                </a:solidFill>
              </a:rPr>
              <a:t>Top CLTV customers worth $75K to $89K each.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</a:rPr>
              <a:t>Data quality: </a:t>
            </a:r>
            <a:pPr indent="0" marL="0">
              <a:buNone/>
            </a:pPr>
            <a:r>
              <a:rPr lang="en-US" sz="1050" dirty="0">
                <a:solidFill>
                  <a:srgbClr val="D5DAE0"/>
                </a:solidFill>
              </a:rPr>
              <a:t>Fix Q4 date filter and Q6 ranking direction.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Sales Analytics Dashboard</dc:title>
  <dc:subject>PptxGenJS Presentation</dc:subject>
  <dc:creator>Atharva Madure</dc:creator>
  <cp:lastModifiedBy>Atharva Madure</cp:lastModifiedBy>
  <cp:revision>1</cp:revision>
  <dcterms:created xsi:type="dcterms:W3CDTF">2026-10-15T01:03:34Z</dcterms:created>
  <dcterms:modified xsi:type="dcterms:W3CDTF">2026-10-15T01:03:34Z</dcterms:modified>
</cp:coreProperties>
</file>